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zh-CN"/>
    </a:defPPr>
    <a:lvl1pPr marL="0" algn="l" defTabSz="457200" rtl="0" eaLnBrk="1" latinLnBrk="0" hangingPunct="1">
      <a:defRPr lang="zh-CN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lang="zh-CN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lang="zh-CN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lang="zh-CN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lang="zh-CN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lang="zh-CN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lang="zh-CN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lang="zh-CN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lang="zh-CN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81"/>
  </p:normalViewPr>
  <p:slideViewPr>
    <p:cSldViewPr snapToGrid="0" snapToObjects="1">
      <p:cViewPr varScale="1">
        <p:scale>
          <a:sx n="116" d="100"/>
          <a:sy n="116" d="100"/>
        </p:scale>
        <p:origin x="320" y="1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/>
          <a:lstStyle/>
          <a:p>
            <a:endParaRPr lang="zh-C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/>
          <a:lstStyle/>
          <a:p>
            <a:endParaRPr lang="zh-C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endParaRPr lang="zh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/>
          <a:lstStyle/>
          <a:p>
            <a:endParaRPr lang="zh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/>
          <a:lstStyle/>
          <a:p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/>
  <p:notesStyle>
    <a:lvl1pPr marL="0" algn="l">
      <a:defRPr lang="zh-CN"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开场 30 秒：我们做了两件事——把 JUnit 5 + JaCoCo 环境搭起来，然后用它比一比四种来源的测试用例：我们自己写的、仓库自带的、两个大模型生成的。结论先说：覆盖率拉不开差距，真正拉开差距的是冗余率和断言密度。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一页说清作业要求，40 秒内讲完。落点在最后一句：前三条是为第四条服务的。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重点讲 JaCoCo 能告诉我们什么：哪些行没跑过、哪些分支只走了一半。PIT 一句带过即可——它证明了覆盖率只是必要条件。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如果被问「为什么不用 Python」，答：Java 加插件就能统计覆盖率，四组测试能放在同一个工程里跑，最好对比。C++ 那一列重点强调重编译成本——这是三语言最本质的差别。表里七行就是调研要求的七个维度。补充一句：Python 还有 hypothesis 做属性测试、mutmut 做变异测试；C++ 有 Mull。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现场如果能开电脑，展示 target/site/jacoco/index.html 那个页面，比念稿强。四组测试同工程、同依赖、同一份报告，是这次实验可比性的前提。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把案例清单表打印一份带过去。如果问「为什么扩到 26 个」，答：为压掉「专挑基线弱的案例」这个质疑，新增的 6 个自带测试都有 18–26 个方法，基线反而更强。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这一页是答辩最容易被追问的：一定要说清楚「大模型没看过原测试」和「输出没改过」。这两句一模糊，整个实验就不算数了。另外主动交代模型 A 有 2 例超时，别等老师问。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别展开公式。老师只想知道「你怎么算的」，不需要看推导。冗余率的口径要主动说清楚：方法级，不是断言级——这是四组可比的前提。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先把两张图指一下：左边是规模，右边是可编译性。唯一没到 100% 的是模型 A 的 92.31%，原因是 2 个案例服务端超时根本没有产出，不是编译错误——这一点要点明，否则显得我们在自夸。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重点讲「单案差异大于组间差异」，比只报平均分有意思。最高分给了模型 A（98.15%），但它的冗余率也最高——这为下一页埋一个转折。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这一页给出一个实用结论，比单纯比高低好听。人工组冗余低，但代价是覆盖窄——PrimeCheck 只有 25.8% 就是例子，两边正好互补。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主动说不足，省得被追问。最后一句「代码公开、模型可能训练时见过」一定要说，这是最容易想到的漏洞。两个缺陷的例子是最硬的证据：说明人工盲测确实发现了上游测试没覆盖的问题。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30 秒讲完，别背人名。如果问「有没有人划水」，直接出示 git 提交统计。右侧四个人工组数字是本节唯一可以直接量化的成本项。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keti2_polish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altLang="zh-CN" smtClean="0"/>
              <a:t>10/28/26</a:t>
            </a:fld>
            <a:endParaRPr lang="zh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keti2_polish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zh-CN"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altLang="zh-CN" smtClean="0"/>
              <a:t>10/28/26</a:t>
            </a:fld>
            <a:endParaRPr 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zh-CN"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lang="zh-CN"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</p:sldLayoutIdLst>
  <p:txStyles>
    <p:titleStyle>
      <a:lvl1pPr algn="ctr" defTabSz="457200" rtl="0" eaLnBrk="1" latinLnBrk="0" hangingPunct="1">
        <a:spcBef>
          <a:spcPct val="0"/>
        </a:spcBef>
        <a:buNone/>
        <a:defRPr lang="zh-CN" sz="375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lang="zh-CN" sz="19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lang="zh-CN" sz="175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lang="zh-CN" sz="165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lang="zh-CN" sz="155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lang="zh-CN"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lang="zh-CN" sz="13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lang="zh-CN"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lang="zh-CN" sz="105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lang="zh-CN" sz="9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457200" rtl="0" eaLnBrk="1" latinLnBrk="0" hangingPunct="1">
        <a:defRPr lang="zh-CN" sz="19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lang="zh-CN" sz="175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lang="zh-CN" sz="165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lang="zh-CN" sz="155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lang="zh-CN"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lang="zh-CN" sz="13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lang="zh-CN"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lang="zh-CN" sz="105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lang="zh-CN" sz="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masthead"/>
          <p:cNvGrpSpPr/>
          <p:nvPr/>
        </p:nvGrpSpPr>
        <p:grpSpPr>
          <a:xfrm>
            <a:off x="0" y="0"/>
            <a:ext cx="12192000" cy="57150"/>
            <a:chOff x="0" y="0"/>
            <a:chExt cx="12192000" cy="571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5715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79070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6" name="cover-kicker"/>
          <p:cNvGrpSpPr/>
          <p:nvPr/>
        </p:nvGrpSpPr>
        <p:grpSpPr>
          <a:xfrm>
            <a:off x="906399" y="1104900"/>
            <a:ext cx="2524313" cy="308991"/>
            <a:chOff x="906399" y="1104900"/>
            <a:chExt cx="2524313" cy="308991"/>
          </a:xfrm>
        </p:grpSpPr>
        <p:sp>
          <p:nvSpPr>
            <p:cNvPr id="5" name="TextBox 5"/>
            <p:cNvSpPr txBox="1"/>
            <p:nvPr/>
          </p:nvSpPr>
          <p:spPr>
            <a:xfrm>
              <a:off x="906399" y="1104900"/>
              <a:ext cx="2524313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spc="225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课程课题 2 · 小组答辩</a:t>
              </a:r>
            </a:p>
          </p:txBody>
        </p:sp>
      </p:grpSp>
      <p:grpSp>
        <p:nvGrpSpPr>
          <p:cNvPr id="8" name="cover-title"/>
          <p:cNvGrpSpPr/>
          <p:nvPr/>
        </p:nvGrpSpPr>
        <p:grpSpPr>
          <a:xfrm>
            <a:off x="895350" y="1809750"/>
            <a:ext cx="9338996" cy="1090612"/>
            <a:chOff x="895350" y="1809750"/>
            <a:chExt cx="9338996" cy="1090612"/>
          </a:xfrm>
        </p:grpSpPr>
        <p:sp>
          <p:nvSpPr>
            <p:cNvPr id="7" name="TextBox 7"/>
            <p:cNvSpPr txBox="1"/>
            <p:nvPr/>
          </p:nvSpPr>
          <p:spPr>
            <a:xfrm>
              <a:off x="895350" y="1809750"/>
              <a:ext cx="9338996" cy="10906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5620" b="1" spc="15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单元测试框架与覆盖率分析</a:t>
              </a:r>
            </a:p>
          </p:txBody>
        </p:sp>
      </p:grpSp>
      <p:grpSp>
        <p:nvGrpSpPr>
          <p:cNvPr id="10" name="cover-rule"/>
          <p:cNvGrpSpPr/>
          <p:nvPr/>
        </p:nvGrpSpPr>
        <p:grpSpPr>
          <a:xfrm>
            <a:off x="914400" y="4171950"/>
            <a:ext cx="1447800" cy="9525"/>
            <a:chOff x="914400" y="4171950"/>
            <a:chExt cx="1447800" cy="9525"/>
          </a:xfrm>
        </p:grpSpPr>
        <p:sp>
          <p:nvSpPr>
            <p:cNvPr id="9" name="Line 9"/>
            <p:cNvSpPr/>
            <p:nvPr/>
          </p:nvSpPr>
          <p:spPr>
            <a:xfrm>
              <a:off x="914400" y="4171950"/>
              <a:ext cx="1447800" cy="9525"/>
            </a:xfrm>
            <a:custGeom>
              <a:avLst/>
              <a:gdLst/>
              <a:ahLst/>
              <a:cxnLst/>
              <a:rect l="l" t="t" r="r" b="b"/>
              <a:pathLst>
                <a:path w="1447800" h="9525">
                  <a:moveTo>
                    <a:pt x="0" y="0"/>
                  </a:moveTo>
                  <a:lnTo>
                    <a:pt x="1447800" y="0"/>
                  </a:lnTo>
                </a:path>
              </a:pathLst>
            </a:custGeom>
            <a:noFill/>
            <a:ln w="38100">
              <a:solidFill>
                <a:schemeClr val="accent2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12" name="cover-subtitle"/>
          <p:cNvGrpSpPr/>
          <p:nvPr/>
        </p:nvGrpSpPr>
        <p:grpSpPr>
          <a:xfrm>
            <a:off x="901827" y="2984500"/>
            <a:ext cx="7930642" cy="857440"/>
            <a:chOff x="901827" y="2984500"/>
            <a:chExt cx="7930642" cy="857440"/>
          </a:xfrm>
        </p:grpSpPr>
        <p:sp>
          <p:nvSpPr>
            <p:cNvPr id="11" name="TextBox 11"/>
            <p:cNvSpPr txBox="1"/>
            <p:nvPr/>
          </p:nvSpPr>
          <p:spPr>
            <a:xfrm>
              <a:off x="901827" y="2984500"/>
              <a:ext cx="7930642" cy="8574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932"/>
                </a:lnSpc>
              </a:pPr>
              <a:r>
                <a:rPr lang="zh-CN" sz="24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JUnit 5 + JaCoCo 环境搭建，以及对人工、数据集自带、</a:t>
              </a:r>
              <a:br>
                <a:rPr lang="zh-CN" sz="24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24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两款大模型四组测试用例的量化对比</a:t>
              </a:r>
            </a:p>
          </p:txBody>
        </p:sp>
      </p:grpSp>
      <p:grpSp>
        <p:nvGrpSpPr>
          <p:cNvPr id="16" name="cover-dataset"/>
          <p:cNvGrpSpPr/>
          <p:nvPr/>
        </p:nvGrpSpPr>
        <p:grpSpPr>
          <a:xfrm>
            <a:off x="906399" y="4476750"/>
            <a:ext cx="6288240" cy="308991"/>
            <a:chOff x="906399" y="4476750"/>
            <a:chExt cx="6288240" cy="308991"/>
          </a:xfrm>
        </p:grpSpPr>
        <p:sp>
          <p:nvSpPr>
            <p:cNvPr id="13" name="TextBox 13"/>
            <p:cNvSpPr txBox="1"/>
            <p:nvPr/>
          </p:nvSpPr>
          <p:spPr>
            <a:xfrm>
              <a:off x="906399" y="4476750"/>
              <a:ext cx="6541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数据集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625536" y="4476750"/>
              <a:ext cx="207831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TheAlgorithms/Java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4732592" y="4476750"/>
              <a:ext cx="246204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26 个案例 · 102 个测试类</a:t>
              </a:r>
            </a:p>
          </p:txBody>
        </p:sp>
      </p:grpSp>
      <p:grpSp>
        <p:nvGrpSpPr>
          <p:cNvPr id="18" name="cover-members"/>
          <p:cNvGrpSpPr/>
          <p:nvPr/>
        </p:nvGrpSpPr>
        <p:grpSpPr>
          <a:xfrm>
            <a:off x="906399" y="4876800"/>
            <a:ext cx="7460488" cy="308991"/>
            <a:chOff x="906399" y="4876800"/>
            <a:chExt cx="7460488" cy="308991"/>
          </a:xfrm>
        </p:grpSpPr>
        <p:sp>
          <p:nvSpPr>
            <p:cNvPr id="17" name="TextBox 17"/>
            <p:cNvSpPr txBox="1"/>
            <p:nvPr/>
          </p:nvSpPr>
          <p:spPr>
            <a:xfrm>
              <a:off x="906399" y="4876800"/>
              <a:ext cx="746048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小组成员：章紫浩　李炀　李一粟　贾玲玲　吕曹骏　姚圣宇　林书涵　李嘉程</a:t>
              </a:r>
            </a:p>
          </p:txBody>
        </p:sp>
      </p:grpSp>
      <p:grpSp>
        <p:nvGrpSpPr>
          <p:cNvPr id="20" name="cover-date"/>
          <p:cNvGrpSpPr/>
          <p:nvPr/>
        </p:nvGrpSpPr>
        <p:grpSpPr>
          <a:xfrm>
            <a:off x="906399" y="5276850"/>
            <a:ext cx="1334740" cy="308991"/>
            <a:chOff x="906399" y="5276850"/>
            <a:chExt cx="1334740" cy="308991"/>
          </a:xfrm>
        </p:grpSpPr>
        <p:sp>
          <p:nvSpPr>
            <p:cNvPr id="19" name="TextBox 19"/>
            <p:cNvSpPr txBox="1"/>
            <p:nvPr/>
          </p:nvSpPr>
          <p:spPr>
            <a:xfrm>
              <a:off x="906399" y="5276850"/>
              <a:ext cx="133474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2026 年 10 月</a:t>
              </a:r>
            </a:p>
          </p:txBody>
        </p:sp>
      </p:grpSp>
      <p:sp>
        <p:nvSpPr>
          <p:cNvPr id="21" name="Line 21"/>
          <p:cNvSpPr/>
          <p:nvPr/>
        </p:nvSpPr>
        <p:spPr>
          <a:xfrm>
            <a:off x="609600" y="6276975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TextBox 22"/>
          <p:cNvSpPr txBox="1"/>
          <p:nvPr/>
        </p:nvSpPr>
        <p:spPr>
          <a:xfrm>
            <a:off x="603123" y="6438900"/>
            <a:ext cx="2769972" cy="25031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8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课题 2 · 单元测试框架与覆盖率分析</a:t>
            </a:r>
          </a:p>
        </p:txBody>
      </p:sp>
      <p:grpSp>
        <p:nvGrpSpPr>
          <p:cNvPr id="24" name="cover-pageno"/>
          <p:cNvGrpSpPr/>
          <p:nvPr/>
        </p:nvGrpSpPr>
        <p:grpSpPr>
          <a:xfrm>
            <a:off x="10912516" y="6438900"/>
            <a:ext cx="676361" cy="250317"/>
            <a:chOff x="10912516" y="6438900"/>
            <a:chExt cx="676361" cy="250317"/>
          </a:xfrm>
        </p:grpSpPr>
        <p:sp>
          <p:nvSpPr>
            <p:cNvPr id="23" name="TextBox 23"/>
            <p:cNvSpPr txBox="1"/>
            <p:nvPr/>
          </p:nvSpPr>
          <p:spPr>
            <a:xfrm>
              <a:off x="10912516" y="6438900"/>
              <a:ext cx="676361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80" dirty="0">
                  <a:solidFill>
                    <a:schemeClr val="accent5"/>
                  </a:solidFill>
                  <a:latin typeface="Consolas"/>
                  <a:ea typeface="Consolas"/>
                  <a:cs typeface="Consolas"/>
                </a:rPr>
                <a:t>01 / 13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masthead"/>
          <p:cNvGrpSpPr/>
          <p:nvPr/>
        </p:nvGrpSpPr>
        <p:grpSpPr>
          <a:xfrm>
            <a:off x="0" y="0"/>
            <a:ext cx="12192000" cy="57150"/>
            <a:chOff x="0" y="0"/>
            <a:chExt cx="12192000" cy="571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5715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79070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6" name="head-kicker"/>
          <p:cNvGrpSpPr/>
          <p:nvPr/>
        </p:nvGrpSpPr>
        <p:grpSpPr>
          <a:xfrm>
            <a:off x="601599" y="457200"/>
            <a:ext cx="927379" cy="308991"/>
            <a:chOff x="601599" y="457200"/>
            <a:chExt cx="927379" cy="308991"/>
          </a:xfrm>
        </p:grpSpPr>
        <p:sp>
          <p:nvSpPr>
            <p:cNvPr id="5" name="TextBox 5"/>
            <p:cNvSpPr txBox="1"/>
            <p:nvPr/>
          </p:nvSpPr>
          <p:spPr>
            <a:xfrm>
              <a:off x="601599" y="457200"/>
              <a:ext cx="92737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spc="150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任务拆解</a:t>
              </a:r>
            </a:p>
          </p:txBody>
        </p:sp>
      </p:grpSp>
      <p:grpSp>
        <p:nvGrpSpPr>
          <p:cNvPr id="8" name="head-title"/>
          <p:cNvGrpSpPr/>
          <p:nvPr/>
        </p:nvGrpSpPr>
        <p:grpSpPr>
          <a:xfrm>
            <a:off x="590550" y="781050"/>
            <a:ext cx="3067050" cy="733425"/>
            <a:chOff x="590550" y="781050"/>
            <a:chExt cx="3067050" cy="733425"/>
          </a:xfrm>
        </p:grpSpPr>
        <p:sp>
          <p:nvSpPr>
            <p:cNvPr id="7" name="TextBox 7"/>
            <p:cNvSpPr txBox="1"/>
            <p:nvPr/>
          </p:nvSpPr>
          <p:spPr>
            <a:xfrm>
              <a:off x="590550" y="781050"/>
              <a:ext cx="3067050" cy="7334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7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我们要做什么</a:t>
              </a:r>
            </a:p>
          </p:txBody>
        </p:sp>
      </p:grpSp>
      <p:grpSp>
        <p:nvGrpSpPr>
          <p:cNvPr id="10" name="head-rule"/>
          <p:cNvGrpSpPr/>
          <p:nvPr/>
        </p:nvGrpSpPr>
        <p:grpSpPr>
          <a:xfrm>
            <a:off x="609600" y="1600200"/>
            <a:ext cx="10972800" cy="9525"/>
            <a:chOff x="609600" y="1600200"/>
            <a:chExt cx="10972800" cy="9525"/>
          </a:xfrm>
        </p:grpSpPr>
        <p:sp>
          <p:nvSpPr>
            <p:cNvPr id="9" name="Line 9"/>
            <p:cNvSpPr/>
            <p:nvPr/>
          </p:nvSpPr>
          <p:spPr>
            <a:xfrm>
              <a:off x="609600" y="160020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14" name="req-01"/>
          <p:cNvGrpSpPr/>
          <p:nvPr/>
        </p:nvGrpSpPr>
        <p:grpSpPr>
          <a:xfrm>
            <a:off x="590550" y="1860550"/>
            <a:ext cx="10236124" cy="907415"/>
            <a:chOff x="590550" y="1860550"/>
            <a:chExt cx="10236124" cy="907415"/>
          </a:xfrm>
        </p:grpSpPr>
        <p:sp>
          <p:nvSpPr>
            <p:cNvPr id="11" name="TextBox 11"/>
            <p:cNvSpPr txBox="1"/>
            <p:nvPr/>
          </p:nvSpPr>
          <p:spPr>
            <a:xfrm>
              <a:off x="590550" y="1860550"/>
              <a:ext cx="315754" cy="7334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750" b="1" dirty="0">
                  <a:solidFill>
                    <a:schemeClr val="accent2"/>
                  </a:solidFill>
                  <a:latin typeface="Consolas"/>
                  <a:ea typeface="Consolas"/>
                  <a:cs typeface="Consolas"/>
                </a:rPr>
                <a:t>1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284351" y="1962150"/>
              <a:ext cx="2168843" cy="4263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要求一 工具调研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285875" y="2400300"/>
              <a:ext cx="9540799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Java、Python、C++ 三语言的单元测试与覆盖率工具生态，横向对比后说明选型理由</a:t>
              </a:r>
            </a:p>
          </p:txBody>
        </p:sp>
      </p:grpSp>
      <p:grpSp>
        <p:nvGrpSpPr>
          <p:cNvPr id="16" name="div-01"/>
          <p:cNvGrpSpPr/>
          <p:nvPr/>
        </p:nvGrpSpPr>
        <p:grpSpPr>
          <a:xfrm>
            <a:off x="609600" y="2724150"/>
            <a:ext cx="10972800" cy="9525"/>
            <a:chOff x="609600" y="2724150"/>
            <a:chExt cx="10972800" cy="9525"/>
          </a:xfrm>
        </p:grpSpPr>
        <p:sp>
          <p:nvSpPr>
            <p:cNvPr id="15" name="Line 15"/>
            <p:cNvSpPr/>
            <p:nvPr/>
          </p:nvSpPr>
          <p:spPr>
            <a:xfrm>
              <a:off x="609600" y="272415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20" name="req-02"/>
          <p:cNvGrpSpPr/>
          <p:nvPr/>
        </p:nvGrpSpPr>
        <p:grpSpPr>
          <a:xfrm>
            <a:off x="590550" y="2736850"/>
            <a:ext cx="7703618" cy="907415"/>
            <a:chOff x="590550" y="2736850"/>
            <a:chExt cx="7703618" cy="907415"/>
          </a:xfrm>
        </p:grpSpPr>
        <p:sp>
          <p:nvSpPr>
            <p:cNvPr id="17" name="TextBox 17"/>
            <p:cNvSpPr txBox="1"/>
            <p:nvPr/>
          </p:nvSpPr>
          <p:spPr>
            <a:xfrm>
              <a:off x="590550" y="2736850"/>
              <a:ext cx="315754" cy="7334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750" b="1" dirty="0">
                  <a:solidFill>
                    <a:schemeClr val="accent2"/>
                  </a:solidFill>
                  <a:latin typeface="Consolas"/>
                  <a:ea typeface="Consolas"/>
                  <a:cs typeface="Consolas"/>
                </a:rPr>
                <a:t>2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284351" y="2838450"/>
              <a:ext cx="2168843" cy="4263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要求二 工具实操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285875" y="3276600"/>
              <a:ext cx="7008293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把 JUnit 5 + JaCoCo 环境搭起来，一条命令能跑出覆盖率报告</a:t>
              </a:r>
            </a:p>
          </p:txBody>
        </p:sp>
      </p:grpSp>
      <p:grpSp>
        <p:nvGrpSpPr>
          <p:cNvPr id="22" name="div-02"/>
          <p:cNvGrpSpPr/>
          <p:nvPr/>
        </p:nvGrpSpPr>
        <p:grpSpPr>
          <a:xfrm>
            <a:off x="609600" y="3600450"/>
            <a:ext cx="10972800" cy="9525"/>
            <a:chOff x="609600" y="3600450"/>
            <a:chExt cx="10972800" cy="9525"/>
          </a:xfrm>
        </p:grpSpPr>
        <p:sp>
          <p:nvSpPr>
            <p:cNvPr id="21" name="Line 21"/>
            <p:cNvSpPr/>
            <p:nvPr/>
          </p:nvSpPr>
          <p:spPr>
            <a:xfrm>
              <a:off x="609600" y="360045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26" name="req-03"/>
          <p:cNvGrpSpPr/>
          <p:nvPr/>
        </p:nvGrpSpPr>
        <p:grpSpPr>
          <a:xfrm>
            <a:off x="590550" y="3613150"/>
            <a:ext cx="8560506" cy="907415"/>
            <a:chOff x="590550" y="3613150"/>
            <a:chExt cx="8560506" cy="907415"/>
          </a:xfrm>
        </p:grpSpPr>
        <p:sp>
          <p:nvSpPr>
            <p:cNvPr id="23" name="TextBox 23"/>
            <p:cNvSpPr txBox="1"/>
            <p:nvPr/>
          </p:nvSpPr>
          <p:spPr>
            <a:xfrm>
              <a:off x="590550" y="3613150"/>
              <a:ext cx="315754" cy="7334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750" b="1" dirty="0">
                  <a:solidFill>
                    <a:schemeClr val="accent2"/>
                  </a:solidFill>
                  <a:latin typeface="Consolas"/>
                  <a:ea typeface="Consolas"/>
                  <a:cs typeface="Consolas"/>
                </a:rPr>
                <a:t>3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284351" y="3714750"/>
              <a:ext cx="2168843" cy="4263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要求三 案例选取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285875" y="4152900"/>
              <a:ext cx="7865181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从 TheAlgorithms/Java 挑出 26 个自带测试、逻辑适中、可复现的类</a:t>
              </a:r>
            </a:p>
          </p:txBody>
        </p:sp>
      </p:grpSp>
      <p:grpSp>
        <p:nvGrpSpPr>
          <p:cNvPr id="28" name="div-03"/>
          <p:cNvGrpSpPr/>
          <p:nvPr/>
        </p:nvGrpSpPr>
        <p:grpSpPr>
          <a:xfrm>
            <a:off x="609600" y="4476750"/>
            <a:ext cx="10972800" cy="9525"/>
            <a:chOff x="609600" y="4476750"/>
            <a:chExt cx="10972800" cy="9525"/>
          </a:xfrm>
        </p:grpSpPr>
        <p:sp>
          <p:nvSpPr>
            <p:cNvPr id="27" name="Line 27"/>
            <p:cNvSpPr/>
            <p:nvPr/>
          </p:nvSpPr>
          <p:spPr>
            <a:xfrm>
              <a:off x="609600" y="447675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32" name="req-04"/>
          <p:cNvGrpSpPr/>
          <p:nvPr/>
        </p:nvGrpSpPr>
        <p:grpSpPr>
          <a:xfrm>
            <a:off x="590550" y="4489450"/>
            <a:ext cx="9648297" cy="907415"/>
            <a:chOff x="590550" y="4489450"/>
            <a:chExt cx="9648297" cy="907415"/>
          </a:xfrm>
        </p:grpSpPr>
        <p:sp>
          <p:nvSpPr>
            <p:cNvPr id="29" name="TextBox 29"/>
            <p:cNvSpPr txBox="1"/>
            <p:nvPr/>
          </p:nvSpPr>
          <p:spPr>
            <a:xfrm>
              <a:off x="590550" y="4489450"/>
              <a:ext cx="315754" cy="7334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750" b="1" dirty="0">
                  <a:solidFill>
                    <a:schemeClr val="accent2"/>
                  </a:solidFill>
                  <a:latin typeface="Consolas"/>
                  <a:ea typeface="Consolas"/>
                  <a:cs typeface="Consolas"/>
                </a:rPr>
                <a:t>4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284351" y="4591050"/>
              <a:ext cx="2168843" cy="4263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要求四 对照实验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1285875" y="5029200"/>
              <a:ext cx="895297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人工 / 数据集自带 / 两款大模型四组测试，比规模、可编译性、覆盖率、冗余性</a:t>
              </a:r>
            </a:p>
          </p:txBody>
        </p:sp>
      </p:grpSp>
      <p:grpSp>
        <p:nvGrpSpPr>
          <p:cNvPr id="38" name="foot-rule"/>
          <p:cNvGrpSpPr/>
          <p:nvPr/>
        </p:nvGrpSpPr>
        <p:grpSpPr>
          <a:xfrm>
            <a:off x="609600" y="6276975"/>
            <a:ext cx="10972800" cy="9525"/>
            <a:chOff x="609600" y="6276975"/>
            <a:chExt cx="10972800" cy="9525"/>
          </a:xfrm>
        </p:grpSpPr>
        <p:sp>
          <p:nvSpPr>
            <p:cNvPr id="37" name="Line 37"/>
            <p:cNvSpPr/>
            <p:nvPr/>
          </p:nvSpPr>
          <p:spPr>
            <a:xfrm>
              <a:off x="609600" y="6276975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40" name="foot-text"/>
          <p:cNvGrpSpPr/>
          <p:nvPr/>
        </p:nvGrpSpPr>
        <p:grpSpPr>
          <a:xfrm>
            <a:off x="603123" y="6438900"/>
            <a:ext cx="2769972" cy="250317"/>
            <a:chOff x="603123" y="6438900"/>
            <a:chExt cx="2769972" cy="250317"/>
          </a:xfrm>
        </p:grpSpPr>
        <p:sp>
          <p:nvSpPr>
            <p:cNvPr id="39" name="TextBox 39"/>
            <p:cNvSpPr txBox="1"/>
            <p:nvPr/>
          </p:nvSpPr>
          <p:spPr>
            <a:xfrm>
              <a:off x="603123" y="6438900"/>
              <a:ext cx="2769972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课题 2 · 单元测试框架与覆盖率分析</a:t>
              </a:r>
            </a:p>
          </p:txBody>
        </p:sp>
      </p:grpSp>
      <p:grpSp>
        <p:nvGrpSpPr>
          <p:cNvPr id="42" name="foot-pageno"/>
          <p:cNvGrpSpPr/>
          <p:nvPr/>
        </p:nvGrpSpPr>
        <p:grpSpPr>
          <a:xfrm>
            <a:off x="10912516" y="6438900"/>
            <a:ext cx="676361" cy="250317"/>
            <a:chOff x="10912516" y="6438900"/>
            <a:chExt cx="676361" cy="250317"/>
          </a:xfrm>
        </p:grpSpPr>
        <p:sp>
          <p:nvSpPr>
            <p:cNvPr id="41" name="TextBox 41"/>
            <p:cNvSpPr txBox="1"/>
            <p:nvPr/>
          </p:nvSpPr>
          <p:spPr>
            <a:xfrm>
              <a:off x="10912516" y="6438900"/>
              <a:ext cx="676361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80" dirty="0">
                  <a:solidFill>
                    <a:schemeClr val="accent5"/>
                  </a:solidFill>
                  <a:latin typeface="Consolas"/>
                  <a:ea typeface="Consolas"/>
                  <a:cs typeface="Consolas"/>
                </a:rPr>
                <a:t>02 / 13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masthead"/>
          <p:cNvGrpSpPr/>
          <p:nvPr/>
        </p:nvGrpSpPr>
        <p:grpSpPr>
          <a:xfrm>
            <a:off x="0" y="0"/>
            <a:ext cx="12192000" cy="57150"/>
            <a:chOff x="0" y="0"/>
            <a:chExt cx="12192000" cy="571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5715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79070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6" name="head-kicker"/>
          <p:cNvGrpSpPr/>
          <p:nvPr/>
        </p:nvGrpSpPr>
        <p:grpSpPr>
          <a:xfrm>
            <a:off x="601599" y="457200"/>
            <a:ext cx="694487" cy="308991"/>
            <a:chOff x="601599" y="457200"/>
            <a:chExt cx="694487" cy="308991"/>
          </a:xfrm>
        </p:grpSpPr>
        <p:sp>
          <p:nvSpPr>
            <p:cNvPr id="5" name="TextBox 5"/>
            <p:cNvSpPr txBox="1"/>
            <p:nvPr/>
          </p:nvSpPr>
          <p:spPr>
            <a:xfrm>
              <a:off x="601599" y="457200"/>
              <a:ext cx="69448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spc="150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要求一</a:t>
              </a:r>
            </a:p>
          </p:txBody>
        </p:sp>
      </p:grpSp>
      <p:grpSp>
        <p:nvGrpSpPr>
          <p:cNvPr id="8" name="head-title"/>
          <p:cNvGrpSpPr/>
          <p:nvPr/>
        </p:nvGrpSpPr>
        <p:grpSpPr>
          <a:xfrm>
            <a:off x="590550" y="781050"/>
            <a:ext cx="3744873" cy="733425"/>
            <a:chOff x="590550" y="781050"/>
            <a:chExt cx="3744873" cy="733425"/>
          </a:xfrm>
        </p:grpSpPr>
        <p:sp>
          <p:nvSpPr>
            <p:cNvPr id="7" name="TextBox 7"/>
            <p:cNvSpPr txBox="1"/>
            <p:nvPr/>
          </p:nvSpPr>
          <p:spPr>
            <a:xfrm>
              <a:off x="590550" y="781050"/>
              <a:ext cx="3744873" cy="7334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7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工具调研：Java</a:t>
              </a:r>
            </a:p>
          </p:txBody>
        </p:sp>
      </p:grpSp>
      <p:grpSp>
        <p:nvGrpSpPr>
          <p:cNvPr id="10" name="head-rule"/>
          <p:cNvGrpSpPr/>
          <p:nvPr/>
        </p:nvGrpSpPr>
        <p:grpSpPr>
          <a:xfrm>
            <a:off x="609600" y="1600200"/>
            <a:ext cx="10972800" cy="9525"/>
            <a:chOff x="609600" y="1600200"/>
            <a:chExt cx="10972800" cy="9525"/>
          </a:xfrm>
        </p:grpSpPr>
        <p:sp>
          <p:nvSpPr>
            <p:cNvPr id="9" name="Line 9"/>
            <p:cNvSpPr/>
            <p:nvPr/>
          </p:nvSpPr>
          <p:spPr>
            <a:xfrm>
              <a:off x="609600" y="160020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14" name="point-01"/>
          <p:cNvGrpSpPr/>
          <p:nvPr/>
        </p:nvGrpSpPr>
        <p:grpSpPr>
          <a:xfrm>
            <a:off x="600075" y="1752600"/>
            <a:ext cx="10078972" cy="701040"/>
            <a:chOff x="600075" y="1752600"/>
            <a:chExt cx="10078972" cy="701040"/>
          </a:xfrm>
        </p:grpSpPr>
        <p:sp>
          <p:nvSpPr>
            <p:cNvPr id="11" name="TextBox 11"/>
            <p:cNvSpPr txBox="1"/>
            <p:nvPr/>
          </p:nvSpPr>
          <p:spPr>
            <a:xfrm>
              <a:off x="600075" y="1752600"/>
              <a:ext cx="1284478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测试框架：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790700" y="1752600"/>
              <a:ext cx="8888347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JUnit 5 是当前事实标准，由 Platform（运行引擎）、Jupiter（编程模型）、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600075" y="2085975"/>
              <a:ext cx="6868467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Vintage（兼容 JUnit 4）三层组成；TestNG 多见于存量项目</a:t>
              </a:r>
            </a:p>
          </p:txBody>
        </p:sp>
      </p:grpSp>
      <p:grpSp>
        <p:nvGrpSpPr>
          <p:cNvPr id="18" name="point-02"/>
          <p:cNvGrpSpPr/>
          <p:nvPr/>
        </p:nvGrpSpPr>
        <p:grpSpPr>
          <a:xfrm>
            <a:off x="600075" y="2514600"/>
            <a:ext cx="10086768" cy="701040"/>
            <a:chOff x="600075" y="2514600"/>
            <a:chExt cx="10086768" cy="701040"/>
          </a:xfrm>
        </p:grpSpPr>
        <p:sp>
          <p:nvSpPr>
            <p:cNvPr id="15" name="TextBox 15"/>
            <p:cNvSpPr txBox="1"/>
            <p:nvPr/>
          </p:nvSpPr>
          <p:spPr>
            <a:xfrm>
              <a:off x="600075" y="2514600"/>
              <a:ext cx="1537564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断言与替身：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2028825" y="2514600"/>
              <a:ext cx="8658018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AssertJ 的流式断言比原生 assertEquals 更可读，Hamcrest 提供匹配器，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00075" y="2847975"/>
              <a:ext cx="3089776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Mockito 负责模拟外部依赖</a:t>
              </a:r>
            </a:p>
          </p:txBody>
        </p:sp>
      </p:grpSp>
      <p:grpSp>
        <p:nvGrpSpPr>
          <p:cNvPr id="21" name="point-03"/>
          <p:cNvGrpSpPr/>
          <p:nvPr/>
        </p:nvGrpSpPr>
        <p:grpSpPr>
          <a:xfrm>
            <a:off x="600075" y="3276600"/>
            <a:ext cx="10260269" cy="367665"/>
            <a:chOff x="600075" y="3276600"/>
            <a:chExt cx="10260269" cy="367665"/>
          </a:xfrm>
        </p:grpSpPr>
        <p:sp>
          <p:nvSpPr>
            <p:cNvPr id="19" name="TextBox 19"/>
            <p:cNvSpPr txBox="1"/>
            <p:nvPr/>
          </p:nvSpPr>
          <p:spPr>
            <a:xfrm>
              <a:off x="600075" y="3276600"/>
              <a:ext cx="103139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覆盖率：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552575" y="3276600"/>
              <a:ext cx="9307769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JaCoCo 用字节码插桩统计指令、分支、行、方法、类五级计数器，不改一行源代码</a:t>
              </a:r>
            </a:p>
          </p:txBody>
        </p:sp>
      </p:grpSp>
      <p:grpSp>
        <p:nvGrpSpPr>
          <p:cNvPr id="25" name="point-04"/>
          <p:cNvGrpSpPr/>
          <p:nvPr/>
        </p:nvGrpSpPr>
        <p:grpSpPr>
          <a:xfrm>
            <a:off x="600075" y="3714750"/>
            <a:ext cx="9535236" cy="701040"/>
            <a:chOff x="600075" y="3714750"/>
            <a:chExt cx="9535236" cy="701040"/>
          </a:xfrm>
        </p:grpSpPr>
        <p:sp>
          <p:nvSpPr>
            <p:cNvPr id="22" name="TextBox 22"/>
            <p:cNvSpPr txBox="1"/>
            <p:nvPr/>
          </p:nvSpPr>
          <p:spPr>
            <a:xfrm>
              <a:off x="600075" y="3714750"/>
              <a:ext cx="1284478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变异测试：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790700" y="3714750"/>
              <a:ext cx="8344611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PIT 往字节码里注入缺陷，看测试能否发现，用来衡量断言是否真的有效——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00075" y="4048125"/>
              <a:ext cx="3056077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这是覆盖率的补充而非替代</a:t>
              </a:r>
            </a:p>
          </p:txBody>
        </p:sp>
      </p:grpSp>
      <p:grpSp>
        <p:nvGrpSpPr>
          <p:cNvPr id="29" name="point-05"/>
          <p:cNvGrpSpPr/>
          <p:nvPr/>
        </p:nvGrpSpPr>
        <p:grpSpPr>
          <a:xfrm>
            <a:off x="600075" y="4476750"/>
            <a:ext cx="8310014" cy="701040"/>
            <a:chOff x="600075" y="4476750"/>
            <a:chExt cx="8310014" cy="701040"/>
          </a:xfrm>
        </p:grpSpPr>
        <p:sp>
          <p:nvSpPr>
            <p:cNvPr id="26" name="TextBox 26"/>
            <p:cNvSpPr txBox="1"/>
            <p:nvPr/>
          </p:nvSpPr>
          <p:spPr>
            <a:xfrm>
              <a:off x="600075" y="4476750"/>
              <a:ext cx="778307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构建：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1314450" y="4476750"/>
              <a:ext cx="7595639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Maven Surefire 跑单元测试，可一条命令把 HTML 覆盖率报告产在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00075" y="4810125"/>
              <a:ext cx="253725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target/site/jacoco/</a:t>
              </a:r>
            </a:p>
          </p:txBody>
        </p:sp>
      </p:grpSp>
      <p:grpSp>
        <p:nvGrpSpPr>
          <p:cNvPr id="35" name="callout-band"/>
          <p:cNvGrpSpPr/>
          <p:nvPr/>
        </p:nvGrpSpPr>
        <p:grpSpPr>
          <a:xfrm>
            <a:off x="609600" y="5295900"/>
            <a:ext cx="10972800" cy="758190"/>
            <a:chOff x="609600" y="5295900"/>
            <a:chExt cx="10972800" cy="758190"/>
          </a:xfrm>
        </p:grpSpPr>
        <p:sp>
          <p:nvSpPr>
            <p:cNvPr id="30" name="Rectangle 30"/>
            <p:cNvSpPr/>
            <p:nvPr/>
          </p:nvSpPr>
          <p:spPr>
            <a:xfrm>
              <a:off x="609600" y="5295900"/>
              <a:ext cx="10972800" cy="7239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09600" y="5295900"/>
              <a:ext cx="38100" cy="7239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828675" y="5353050"/>
              <a:ext cx="1284478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选型结论：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2019300" y="5353050"/>
              <a:ext cx="8661424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JUnit 5 + JaCoCo 是 Java 生态的默认组合，加插件即用、不必改测试代码，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828675" y="5686425"/>
              <a:ext cx="4827676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最适合把四组测试塞进同一个工程做对比。</a:t>
              </a:r>
            </a:p>
          </p:txBody>
        </p:sp>
      </p:grpSp>
      <p:grpSp>
        <p:nvGrpSpPr>
          <p:cNvPr id="37" name="foot-rule"/>
          <p:cNvGrpSpPr/>
          <p:nvPr/>
        </p:nvGrpSpPr>
        <p:grpSpPr>
          <a:xfrm>
            <a:off x="609600" y="6276975"/>
            <a:ext cx="10972800" cy="9525"/>
            <a:chOff x="609600" y="6276975"/>
            <a:chExt cx="10972800" cy="9525"/>
          </a:xfrm>
        </p:grpSpPr>
        <p:sp>
          <p:nvSpPr>
            <p:cNvPr id="36" name="Line 36"/>
            <p:cNvSpPr/>
            <p:nvPr/>
          </p:nvSpPr>
          <p:spPr>
            <a:xfrm>
              <a:off x="609600" y="6276975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39" name="foot-text"/>
          <p:cNvGrpSpPr/>
          <p:nvPr/>
        </p:nvGrpSpPr>
        <p:grpSpPr>
          <a:xfrm>
            <a:off x="603123" y="6438900"/>
            <a:ext cx="2769972" cy="250317"/>
            <a:chOff x="603123" y="6438900"/>
            <a:chExt cx="2769972" cy="250317"/>
          </a:xfrm>
        </p:grpSpPr>
        <p:sp>
          <p:nvSpPr>
            <p:cNvPr id="38" name="TextBox 38"/>
            <p:cNvSpPr txBox="1"/>
            <p:nvPr/>
          </p:nvSpPr>
          <p:spPr>
            <a:xfrm>
              <a:off x="603123" y="6438900"/>
              <a:ext cx="2769972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课题 2 · 单元测试框架与覆盖率分析</a:t>
              </a:r>
            </a:p>
          </p:txBody>
        </p:sp>
      </p:grpSp>
      <p:grpSp>
        <p:nvGrpSpPr>
          <p:cNvPr id="41" name="foot-pageno"/>
          <p:cNvGrpSpPr/>
          <p:nvPr/>
        </p:nvGrpSpPr>
        <p:grpSpPr>
          <a:xfrm>
            <a:off x="10912516" y="6438900"/>
            <a:ext cx="676361" cy="250317"/>
            <a:chOff x="10912516" y="6438900"/>
            <a:chExt cx="676361" cy="250317"/>
          </a:xfrm>
        </p:grpSpPr>
        <p:sp>
          <p:nvSpPr>
            <p:cNvPr id="40" name="TextBox 40"/>
            <p:cNvSpPr txBox="1"/>
            <p:nvPr/>
          </p:nvSpPr>
          <p:spPr>
            <a:xfrm>
              <a:off x="10912516" y="6438900"/>
              <a:ext cx="676361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80" dirty="0">
                  <a:solidFill>
                    <a:schemeClr val="accent5"/>
                  </a:solidFill>
                  <a:latin typeface="Consolas"/>
                  <a:ea typeface="Consolas"/>
                  <a:cs typeface="Consolas"/>
                </a:rPr>
                <a:t>03 / 13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masthead"/>
          <p:cNvGrpSpPr/>
          <p:nvPr/>
        </p:nvGrpSpPr>
        <p:grpSpPr>
          <a:xfrm>
            <a:off x="0" y="0"/>
            <a:ext cx="12192000" cy="57150"/>
            <a:chOff x="0" y="0"/>
            <a:chExt cx="12192000" cy="571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5715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79070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6" name="head-kicker"/>
          <p:cNvGrpSpPr/>
          <p:nvPr/>
        </p:nvGrpSpPr>
        <p:grpSpPr>
          <a:xfrm>
            <a:off x="601599" y="457200"/>
            <a:ext cx="694487" cy="308991"/>
            <a:chOff x="601599" y="457200"/>
            <a:chExt cx="694487" cy="308991"/>
          </a:xfrm>
        </p:grpSpPr>
        <p:sp>
          <p:nvSpPr>
            <p:cNvPr id="5" name="TextBox 5"/>
            <p:cNvSpPr txBox="1"/>
            <p:nvPr/>
          </p:nvSpPr>
          <p:spPr>
            <a:xfrm>
              <a:off x="601599" y="457200"/>
              <a:ext cx="69448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spc="150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要求一</a:t>
              </a:r>
            </a:p>
          </p:txBody>
        </p:sp>
      </p:grpSp>
      <p:grpSp>
        <p:nvGrpSpPr>
          <p:cNvPr id="8" name="head-title"/>
          <p:cNvGrpSpPr/>
          <p:nvPr/>
        </p:nvGrpSpPr>
        <p:grpSpPr>
          <a:xfrm>
            <a:off x="590550" y="781050"/>
            <a:ext cx="8953857" cy="733425"/>
            <a:chOff x="590550" y="781050"/>
            <a:chExt cx="8953857" cy="733425"/>
          </a:xfrm>
        </p:grpSpPr>
        <p:sp>
          <p:nvSpPr>
            <p:cNvPr id="7" name="TextBox 7"/>
            <p:cNvSpPr txBox="1"/>
            <p:nvPr/>
          </p:nvSpPr>
          <p:spPr>
            <a:xfrm>
              <a:off x="590550" y="781050"/>
              <a:ext cx="8953857" cy="7334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7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工具调研：Python、C++ 与三语言对比</a:t>
              </a:r>
            </a:p>
          </p:txBody>
        </p:sp>
      </p:grpSp>
      <p:grpSp>
        <p:nvGrpSpPr>
          <p:cNvPr id="10" name="head-rule"/>
          <p:cNvGrpSpPr/>
          <p:nvPr/>
        </p:nvGrpSpPr>
        <p:grpSpPr>
          <a:xfrm>
            <a:off x="609600" y="1600200"/>
            <a:ext cx="10972800" cy="9525"/>
            <a:chOff x="609600" y="1600200"/>
            <a:chExt cx="10972800" cy="9525"/>
          </a:xfrm>
        </p:grpSpPr>
        <p:sp>
          <p:nvSpPr>
            <p:cNvPr id="9" name="Line 9"/>
            <p:cNvSpPr/>
            <p:nvPr/>
          </p:nvSpPr>
          <p:spPr>
            <a:xfrm>
              <a:off x="609600" y="160020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17" name="points"/>
          <p:cNvGrpSpPr/>
          <p:nvPr/>
        </p:nvGrpSpPr>
        <p:grpSpPr>
          <a:xfrm>
            <a:off x="601599" y="1771650"/>
            <a:ext cx="6096039" cy="1032891"/>
            <a:chOff x="601599" y="1771650"/>
            <a:chExt cx="6096039" cy="1032891"/>
          </a:xfrm>
        </p:grpSpPr>
        <p:sp>
          <p:nvSpPr>
            <p:cNvPr id="11" name="TextBox 11"/>
            <p:cNvSpPr txBox="1"/>
            <p:nvPr/>
          </p:nvSpPr>
          <p:spPr>
            <a:xfrm>
              <a:off x="601599" y="1771650"/>
              <a:ext cx="146569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Python 最轻：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977962" y="1771650"/>
              <a:ext cx="4355074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pytest 管用例，pytest-cov 一条命令出报告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601599" y="2133600"/>
              <a:ext cx="1114254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C++ 最重：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701736" y="2133600"/>
              <a:ext cx="4995902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GoogleTest 只管写用例，覆盖率要 gcov 重编译插桩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01599" y="2495550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根本差别：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601724" y="2495550"/>
              <a:ext cx="4531554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Java 挂插件、Python 加参数，C++ 必须重编译</a:t>
              </a:r>
            </a:p>
          </p:txBody>
        </p:sp>
      </p:grpSp>
      <p:grpSp>
        <p:nvGrpSpPr>
          <p:cNvPr id="62" name="lang-table"/>
          <p:cNvGrpSpPr/>
          <p:nvPr/>
        </p:nvGrpSpPr>
        <p:grpSpPr>
          <a:xfrm>
            <a:off x="609600" y="3048000"/>
            <a:ext cx="10972800" cy="2290191"/>
            <a:chOff x="609600" y="3048000"/>
            <a:chExt cx="10972800" cy="2290191"/>
          </a:xfrm>
        </p:grpSpPr>
        <p:sp>
          <p:nvSpPr>
            <p:cNvPr id="18" name="Rectangle 18"/>
            <p:cNvSpPr/>
            <p:nvPr/>
          </p:nvSpPr>
          <p:spPr>
            <a:xfrm>
              <a:off x="609600" y="3048000"/>
              <a:ext cx="10972800" cy="381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53999" y="3105150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维度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162455" y="3105150"/>
              <a:ext cx="51429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Java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820921" y="3105150"/>
              <a:ext cx="75995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Python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760469" y="3105150"/>
              <a:ext cx="405363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C++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09600" y="3695700"/>
              <a:ext cx="10972800" cy="2667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09600" y="4229100"/>
              <a:ext cx="10972800" cy="2667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09600" y="4762500"/>
              <a:ext cx="10972800" cy="2667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53999" y="3429000"/>
              <a:ext cx="12922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主流测试框架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3560728" y="3429000"/>
              <a:ext cx="171774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JUnit 5 / TestNG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278291" y="3429000"/>
              <a:ext cx="184521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pytest / unittest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8379740" y="3429000"/>
              <a:ext cx="316682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GoogleTest / Catch2 / doctest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753999" y="3695700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覆盖率工具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4050712" y="3695700"/>
              <a:ext cx="737776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JaCoCo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5842257" y="3695700"/>
              <a:ext cx="271728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coverage.py / pytest-cov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8497796" y="3695700"/>
              <a:ext cx="293070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gcov + lcov / LLVM coverage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753999" y="3962400"/>
              <a:ext cx="12922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是否需改代码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3773500" y="3962400"/>
              <a:ext cx="12922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挂插件，不改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554800" y="3962400"/>
              <a:ext cx="12922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加参数，不改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9423400" y="3962400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需重新编译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753999" y="4229100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覆盖率粒度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3300244" y="4229100"/>
              <a:ext cx="2238713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行 / 分支 / 指令 / 方法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6751547" y="4229100"/>
              <a:ext cx="89870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行 / 分支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9178795" y="4229100"/>
              <a:ext cx="156870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行 / 分支 / 区域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753999" y="4495800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报告形式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3490168" y="4495800"/>
              <a:ext cx="1858863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HTML + XML + CSV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6244179" y="4495800"/>
              <a:ext cx="1913443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HTML / XML / 终端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8824029" y="4495800"/>
              <a:ext cx="2278243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HTML（genhtml 生成）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753999" y="4762500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上手难度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4305249" y="4762500"/>
              <a:ext cx="228702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低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6980199" y="4762500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最低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9848799" y="4762500"/>
              <a:ext cx="228702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高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753999" y="5029200"/>
              <a:ext cx="150489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本项目是否选用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4103982" y="5029200"/>
              <a:ext cx="631236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√ 选用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7134407" y="5029200"/>
              <a:ext cx="13298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—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9896657" y="5029200"/>
              <a:ext cx="13298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—</a:t>
              </a:r>
            </a:p>
          </p:txBody>
        </p:sp>
        <p:sp>
          <p:nvSpPr>
            <p:cNvPr id="54" name="Line 54"/>
            <p:cNvSpPr/>
            <p:nvPr/>
          </p:nvSpPr>
          <p:spPr>
            <a:xfrm>
              <a:off x="609600" y="342900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55" name="Line 55"/>
            <p:cNvSpPr/>
            <p:nvPr/>
          </p:nvSpPr>
          <p:spPr>
            <a:xfrm>
              <a:off x="609600" y="369570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56" name="Line 56"/>
            <p:cNvSpPr/>
            <p:nvPr/>
          </p:nvSpPr>
          <p:spPr>
            <a:xfrm>
              <a:off x="609600" y="396240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57" name="Line 57"/>
            <p:cNvSpPr/>
            <p:nvPr/>
          </p:nvSpPr>
          <p:spPr>
            <a:xfrm>
              <a:off x="609600" y="422910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58" name="Line 58"/>
            <p:cNvSpPr/>
            <p:nvPr/>
          </p:nvSpPr>
          <p:spPr>
            <a:xfrm>
              <a:off x="609600" y="449580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59" name="Line 59"/>
            <p:cNvSpPr/>
            <p:nvPr/>
          </p:nvSpPr>
          <p:spPr>
            <a:xfrm>
              <a:off x="609600" y="476250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60" name="Line 60"/>
            <p:cNvSpPr/>
            <p:nvPr/>
          </p:nvSpPr>
          <p:spPr>
            <a:xfrm>
              <a:off x="609600" y="502920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61" name="Line 61"/>
            <p:cNvSpPr/>
            <p:nvPr/>
          </p:nvSpPr>
          <p:spPr>
            <a:xfrm>
              <a:off x="609600" y="529590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68" name="callout-band"/>
          <p:cNvGrpSpPr/>
          <p:nvPr/>
        </p:nvGrpSpPr>
        <p:grpSpPr>
          <a:xfrm>
            <a:off x="609600" y="5448300"/>
            <a:ext cx="10972800" cy="723900"/>
            <a:chOff x="609600" y="5448300"/>
            <a:chExt cx="10972800" cy="723900"/>
          </a:xfrm>
        </p:grpSpPr>
        <p:sp>
          <p:nvSpPr>
            <p:cNvPr id="63" name="Rectangle 63"/>
            <p:cNvSpPr/>
            <p:nvPr/>
          </p:nvSpPr>
          <p:spPr>
            <a:xfrm>
              <a:off x="609600" y="5448300"/>
              <a:ext cx="10972800" cy="7239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64" name="Rectangle 64"/>
            <p:cNvSpPr/>
            <p:nvPr/>
          </p:nvSpPr>
          <p:spPr>
            <a:xfrm>
              <a:off x="609600" y="5448300"/>
              <a:ext cx="38100" cy="7239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828675" y="5505450"/>
              <a:ext cx="1284478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选型理由：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2019300" y="5505450"/>
              <a:ext cx="8759457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Java 侧免改代码、报告开箱即用，四组测试能塞进同一个工程跑同一份报告；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828675" y="5838825"/>
              <a:ext cx="5571141" cy="289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Python 生态散在第三方插件；C++ </a:t>
              </a:r>
              <a:r>
                <a:rPr lang="zh-CN" altLang="en-US" sz="1880" dirty="0">
                  <a:solidFill>
                    <a:schemeClr val="accent1"/>
                  </a:solidFill>
                </a:rPr>
                <a:t>编译成本很高。</a:t>
              </a:r>
              <a:endParaRPr lang="zh-CN" sz="1880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70" name="foot-rule"/>
          <p:cNvGrpSpPr/>
          <p:nvPr/>
        </p:nvGrpSpPr>
        <p:grpSpPr>
          <a:xfrm>
            <a:off x="609600" y="6276975"/>
            <a:ext cx="10972800" cy="9525"/>
            <a:chOff x="609600" y="6276975"/>
            <a:chExt cx="10972800" cy="9525"/>
          </a:xfrm>
        </p:grpSpPr>
        <p:sp>
          <p:nvSpPr>
            <p:cNvPr id="69" name="Line 69"/>
            <p:cNvSpPr/>
            <p:nvPr/>
          </p:nvSpPr>
          <p:spPr>
            <a:xfrm>
              <a:off x="609600" y="6276975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72" name="foot-text"/>
          <p:cNvGrpSpPr/>
          <p:nvPr/>
        </p:nvGrpSpPr>
        <p:grpSpPr>
          <a:xfrm>
            <a:off x="603123" y="6438900"/>
            <a:ext cx="2769972" cy="250317"/>
            <a:chOff x="603123" y="6438900"/>
            <a:chExt cx="2769972" cy="250317"/>
          </a:xfrm>
        </p:grpSpPr>
        <p:sp>
          <p:nvSpPr>
            <p:cNvPr id="71" name="TextBox 71"/>
            <p:cNvSpPr txBox="1"/>
            <p:nvPr/>
          </p:nvSpPr>
          <p:spPr>
            <a:xfrm>
              <a:off x="603123" y="6438900"/>
              <a:ext cx="2769972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课题 2 · 单元测试框架与覆盖率分析</a:t>
              </a:r>
            </a:p>
          </p:txBody>
        </p:sp>
      </p:grpSp>
      <p:grpSp>
        <p:nvGrpSpPr>
          <p:cNvPr id="74" name="foot-pageno"/>
          <p:cNvGrpSpPr/>
          <p:nvPr/>
        </p:nvGrpSpPr>
        <p:grpSpPr>
          <a:xfrm>
            <a:off x="10912516" y="6438900"/>
            <a:ext cx="676361" cy="250317"/>
            <a:chOff x="10912516" y="6438900"/>
            <a:chExt cx="676361" cy="250317"/>
          </a:xfrm>
        </p:grpSpPr>
        <p:sp>
          <p:nvSpPr>
            <p:cNvPr id="73" name="TextBox 73"/>
            <p:cNvSpPr txBox="1"/>
            <p:nvPr/>
          </p:nvSpPr>
          <p:spPr>
            <a:xfrm>
              <a:off x="10912516" y="6438900"/>
              <a:ext cx="676361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80" dirty="0">
                  <a:solidFill>
                    <a:schemeClr val="accent5"/>
                  </a:solidFill>
                  <a:latin typeface="Consolas"/>
                  <a:ea typeface="Consolas"/>
                  <a:cs typeface="Consolas"/>
                </a:rPr>
                <a:t>04 / 13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masthead"/>
          <p:cNvGrpSpPr/>
          <p:nvPr/>
        </p:nvGrpSpPr>
        <p:grpSpPr>
          <a:xfrm>
            <a:off x="0" y="0"/>
            <a:ext cx="12192000" cy="57150"/>
            <a:chOff x="0" y="0"/>
            <a:chExt cx="12192000" cy="571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5715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79070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6" name="head-kicker"/>
          <p:cNvGrpSpPr/>
          <p:nvPr/>
        </p:nvGrpSpPr>
        <p:grpSpPr>
          <a:xfrm>
            <a:off x="601599" y="457200"/>
            <a:ext cx="694487" cy="308991"/>
            <a:chOff x="601599" y="457200"/>
            <a:chExt cx="694487" cy="308991"/>
          </a:xfrm>
        </p:grpSpPr>
        <p:sp>
          <p:nvSpPr>
            <p:cNvPr id="5" name="TextBox 5"/>
            <p:cNvSpPr txBox="1"/>
            <p:nvPr/>
          </p:nvSpPr>
          <p:spPr>
            <a:xfrm>
              <a:off x="601599" y="457200"/>
              <a:ext cx="69448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spc="150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要求二</a:t>
              </a:r>
            </a:p>
          </p:txBody>
        </p:sp>
      </p:grpSp>
      <p:grpSp>
        <p:nvGrpSpPr>
          <p:cNvPr id="8" name="head-title"/>
          <p:cNvGrpSpPr/>
          <p:nvPr/>
        </p:nvGrpSpPr>
        <p:grpSpPr>
          <a:xfrm>
            <a:off x="590550" y="781050"/>
            <a:ext cx="6803119" cy="733425"/>
            <a:chOff x="590550" y="781050"/>
            <a:chExt cx="6803119" cy="733425"/>
          </a:xfrm>
        </p:grpSpPr>
        <p:sp>
          <p:nvSpPr>
            <p:cNvPr id="7" name="TextBox 7"/>
            <p:cNvSpPr txBox="1"/>
            <p:nvPr/>
          </p:nvSpPr>
          <p:spPr>
            <a:xfrm>
              <a:off x="590550" y="781050"/>
              <a:ext cx="6803119" cy="7334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7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环境搭建：JUnit 5 + JaCoCo</a:t>
              </a:r>
            </a:p>
          </p:txBody>
        </p:sp>
      </p:grpSp>
      <p:grpSp>
        <p:nvGrpSpPr>
          <p:cNvPr id="10" name="head-rule"/>
          <p:cNvGrpSpPr/>
          <p:nvPr/>
        </p:nvGrpSpPr>
        <p:grpSpPr>
          <a:xfrm>
            <a:off x="609600" y="1600200"/>
            <a:ext cx="10972800" cy="9525"/>
            <a:chOff x="609600" y="1600200"/>
            <a:chExt cx="10972800" cy="9525"/>
          </a:xfrm>
        </p:grpSpPr>
        <p:sp>
          <p:nvSpPr>
            <p:cNvPr id="9" name="Line 9"/>
            <p:cNvSpPr/>
            <p:nvPr/>
          </p:nvSpPr>
          <p:spPr>
            <a:xfrm>
              <a:off x="609600" y="160020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20" name="ver-band"/>
          <p:cNvGrpSpPr/>
          <p:nvPr/>
        </p:nvGrpSpPr>
        <p:grpSpPr>
          <a:xfrm>
            <a:off x="597027" y="1962150"/>
            <a:ext cx="10985373" cy="1031113"/>
            <a:chOff x="597027" y="1962150"/>
            <a:chExt cx="10985373" cy="1031113"/>
          </a:xfrm>
        </p:grpSpPr>
        <p:sp>
          <p:nvSpPr>
            <p:cNvPr id="11" name="Line 11"/>
            <p:cNvSpPr/>
            <p:nvPr/>
          </p:nvSpPr>
          <p:spPr>
            <a:xfrm>
              <a:off x="609600" y="1962150"/>
              <a:ext cx="3505200" cy="9525"/>
            </a:xfrm>
            <a:custGeom>
              <a:avLst/>
              <a:gdLst/>
              <a:ahLst/>
              <a:cxnLst/>
              <a:rect l="l" t="t" r="r" b="b"/>
              <a:pathLst>
                <a:path w="3505200" h="9525">
                  <a:moveTo>
                    <a:pt x="0" y="0"/>
                  </a:moveTo>
                  <a:lnTo>
                    <a:pt x="3505200" y="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2" name="Line 12"/>
            <p:cNvSpPr/>
            <p:nvPr/>
          </p:nvSpPr>
          <p:spPr>
            <a:xfrm>
              <a:off x="4343400" y="1962150"/>
              <a:ext cx="3505200" cy="9525"/>
            </a:xfrm>
            <a:custGeom>
              <a:avLst/>
              <a:gdLst/>
              <a:ahLst/>
              <a:cxnLst/>
              <a:rect l="l" t="t" r="r" b="b"/>
              <a:pathLst>
                <a:path w="3505200" h="9525">
                  <a:moveTo>
                    <a:pt x="0" y="0"/>
                  </a:moveTo>
                  <a:lnTo>
                    <a:pt x="3505200" y="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3" name="Line 13"/>
            <p:cNvSpPr/>
            <p:nvPr/>
          </p:nvSpPr>
          <p:spPr>
            <a:xfrm>
              <a:off x="8077200" y="1962150"/>
              <a:ext cx="3505200" cy="9525"/>
            </a:xfrm>
            <a:custGeom>
              <a:avLst/>
              <a:gdLst/>
              <a:ahLst/>
              <a:cxnLst/>
              <a:rect l="l" t="t" r="r" b="b"/>
              <a:pathLst>
                <a:path w="3505200" h="9525">
                  <a:moveTo>
                    <a:pt x="0" y="0"/>
                  </a:moveTo>
                  <a:lnTo>
                    <a:pt x="3505200" y="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01599" y="2076450"/>
              <a:ext cx="386822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JDK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597027" y="2508250"/>
              <a:ext cx="1310498" cy="48501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80" b="1" dirty="0">
                  <a:solidFill>
                    <a:schemeClr val="accent1"/>
                  </a:solidFill>
                  <a:latin typeface="Consolas"/>
                  <a:ea typeface="Consolas"/>
                  <a:cs typeface="Consolas"/>
                </a:rPr>
                <a:t>21.0.12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335399" y="2076450"/>
              <a:ext cx="65056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Maven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330827" y="2508250"/>
              <a:ext cx="1126876" cy="48501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80" b="1" dirty="0">
                  <a:solidFill>
                    <a:schemeClr val="accent1"/>
                  </a:solidFill>
                  <a:latin typeface="Consolas"/>
                  <a:ea typeface="Consolas"/>
                  <a:cs typeface="Consolas"/>
                </a:rPr>
                <a:t>3.9.16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8069199" y="2076450"/>
              <a:ext cx="737776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JaCoCo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8064627" y="2508250"/>
              <a:ext cx="1126876" cy="48501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80" b="1" dirty="0">
                  <a:solidFill>
                    <a:schemeClr val="accent1"/>
                  </a:solidFill>
                  <a:latin typeface="Consolas"/>
                  <a:ea typeface="Consolas"/>
                  <a:cs typeface="Consolas"/>
                </a:rPr>
                <a:t>0.8.15</a:t>
              </a:r>
            </a:p>
          </p:txBody>
        </p:sp>
      </p:grpSp>
      <p:grpSp>
        <p:nvGrpSpPr>
          <p:cNvPr id="23" name="point-01"/>
          <p:cNvGrpSpPr/>
          <p:nvPr/>
        </p:nvGrpSpPr>
        <p:grpSpPr>
          <a:xfrm>
            <a:off x="600075" y="3009900"/>
            <a:ext cx="10333888" cy="367665"/>
            <a:chOff x="600075" y="3009900"/>
            <a:chExt cx="10333888" cy="367665"/>
          </a:xfrm>
        </p:grpSpPr>
        <p:sp>
          <p:nvSpPr>
            <p:cNvPr id="21" name="TextBox 21"/>
            <p:cNvSpPr txBox="1"/>
            <p:nvPr/>
          </p:nvSpPr>
          <p:spPr>
            <a:xfrm>
              <a:off x="600075" y="3009900"/>
              <a:ext cx="1284478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固定版本：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790700" y="3009900"/>
              <a:ext cx="9143263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克隆 TheAlgorithms/Java 并锁定一个 commit，全组只跑这一版，避免版本漂移</a:t>
              </a:r>
            </a:p>
          </p:txBody>
        </p:sp>
      </p:grpSp>
      <p:grpSp>
        <p:nvGrpSpPr>
          <p:cNvPr id="26" name="point-02"/>
          <p:cNvGrpSpPr/>
          <p:nvPr/>
        </p:nvGrpSpPr>
        <p:grpSpPr>
          <a:xfrm>
            <a:off x="600075" y="3429000"/>
            <a:ext cx="10017948" cy="367665"/>
            <a:chOff x="600075" y="3429000"/>
            <a:chExt cx="10017948" cy="367665"/>
          </a:xfrm>
        </p:grpSpPr>
        <p:sp>
          <p:nvSpPr>
            <p:cNvPr id="24" name="TextBox 24"/>
            <p:cNvSpPr txBox="1"/>
            <p:nvPr/>
          </p:nvSpPr>
          <p:spPr>
            <a:xfrm>
              <a:off x="600075" y="3429000"/>
              <a:ext cx="1284478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依赖现成：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790700" y="3429000"/>
              <a:ext cx="8827323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仓库 pom 已内置 JUnit 5、AssertJ 与 JaCoCo 0.8.15，不需要新增任何依赖</a:t>
              </a:r>
            </a:p>
          </p:txBody>
        </p:sp>
      </p:grpSp>
      <p:grpSp>
        <p:nvGrpSpPr>
          <p:cNvPr id="29" name="point-03"/>
          <p:cNvGrpSpPr/>
          <p:nvPr/>
        </p:nvGrpSpPr>
        <p:grpSpPr>
          <a:xfrm>
            <a:off x="600075" y="3848100"/>
            <a:ext cx="9297011" cy="289310"/>
            <a:chOff x="600075" y="3848100"/>
            <a:chExt cx="9297011" cy="289310"/>
          </a:xfrm>
        </p:grpSpPr>
        <p:sp>
          <p:nvSpPr>
            <p:cNvPr id="27" name="TextBox 27"/>
            <p:cNvSpPr txBox="1"/>
            <p:nvPr/>
          </p:nvSpPr>
          <p:spPr>
            <a:xfrm>
              <a:off x="600075" y="3848100"/>
              <a:ext cx="1178208" cy="289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altLang="en-US" sz="1880" b="1" dirty="0">
                  <a:solidFill>
                    <a:schemeClr val="accent1"/>
                  </a:solidFill>
                </a:rPr>
                <a:t>修 改 </a:t>
              </a:r>
              <a:r>
                <a:rPr lang="zh-CN" sz="18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处</a:t>
              </a:r>
              <a:r>
                <a:rPr lang="zh-CN" altLang="en-US" sz="18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 </a:t>
              </a:r>
              <a:r>
                <a:rPr lang="zh-CN" sz="18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：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790700" y="3848100"/>
              <a:ext cx="8106386" cy="289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删掉编译器参数 </a:t>
              </a:r>
              <a:r>
                <a:rPr lang="en-US" altLang="zh-CN" sz="18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-</a:t>
              </a:r>
              <a:r>
                <a:rPr lang="zh-CN" sz="18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Werror</a:t>
              </a:r>
              <a:r>
                <a:rPr lang="zh-CN" altLang="en-US" sz="18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，避免</a:t>
              </a:r>
              <a:r>
                <a:rPr lang="zh-CN" sz="18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任何一个编译警告都会让构建失败</a:t>
              </a:r>
              <a:r>
                <a:rPr lang="zh-CN" altLang="en-US" sz="18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的情况出现</a:t>
              </a:r>
              <a:endParaRPr lang="zh-CN" sz="188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32" name="point-04"/>
          <p:cNvGrpSpPr/>
          <p:nvPr/>
        </p:nvGrpSpPr>
        <p:grpSpPr>
          <a:xfrm>
            <a:off x="600075" y="4267200"/>
            <a:ext cx="10576830" cy="367665"/>
            <a:chOff x="600075" y="4267200"/>
            <a:chExt cx="10576830" cy="367665"/>
          </a:xfrm>
        </p:grpSpPr>
        <p:sp>
          <p:nvSpPr>
            <p:cNvPr id="30" name="TextBox 30"/>
            <p:cNvSpPr txBox="1"/>
            <p:nvPr/>
          </p:nvSpPr>
          <p:spPr>
            <a:xfrm>
              <a:off x="600075" y="4267200"/>
              <a:ext cx="1284478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四组隔离：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1790700" y="4267200"/>
              <a:ext cx="9386205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用类名后缀区分：ManualTest / DatasetTest / LlmATest / LlmBTest，同包并存</a:t>
              </a:r>
            </a:p>
          </p:txBody>
        </p:sp>
      </p:grpSp>
      <p:grpSp>
        <p:nvGrpSpPr>
          <p:cNvPr id="36" name="point-05"/>
          <p:cNvGrpSpPr/>
          <p:nvPr/>
        </p:nvGrpSpPr>
        <p:grpSpPr>
          <a:xfrm>
            <a:off x="600075" y="4686300"/>
            <a:ext cx="65" cy="594110"/>
            <a:chOff x="600075" y="4686300"/>
            <a:chExt cx="65" cy="594110"/>
          </a:xfrm>
        </p:grpSpPr>
        <p:sp>
          <p:nvSpPr>
            <p:cNvPr id="33" name="TextBox 33"/>
            <p:cNvSpPr txBox="1"/>
            <p:nvPr/>
          </p:nvSpPr>
          <p:spPr>
            <a:xfrm>
              <a:off x="600075" y="4686300"/>
              <a:ext cx="65" cy="289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endParaRPr lang="zh-CN" sz="188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00075" y="4991100"/>
              <a:ext cx="65" cy="289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endParaRPr lang="zh-CN" sz="188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41" name="callout-band"/>
          <p:cNvGrpSpPr/>
          <p:nvPr/>
        </p:nvGrpSpPr>
        <p:grpSpPr>
          <a:xfrm>
            <a:off x="609600" y="5353050"/>
            <a:ext cx="10972800" cy="571500"/>
            <a:chOff x="609600" y="5353050"/>
            <a:chExt cx="10972800" cy="571500"/>
          </a:xfrm>
        </p:grpSpPr>
        <p:sp>
          <p:nvSpPr>
            <p:cNvPr id="37" name="Rectangle 37"/>
            <p:cNvSpPr/>
            <p:nvPr/>
          </p:nvSpPr>
          <p:spPr>
            <a:xfrm>
              <a:off x="609600" y="5353050"/>
              <a:ext cx="10972800" cy="5715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8" name="Rectangle 38"/>
            <p:cNvSpPr/>
            <p:nvPr/>
          </p:nvSpPr>
          <p:spPr>
            <a:xfrm>
              <a:off x="609600" y="5353050"/>
              <a:ext cx="38100" cy="57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828675" y="5410200"/>
              <a:ext cx="778307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实测：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1543050" y="5410200"/>
              <a:ext cx="9395871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847 个主代码文件 + 897 个测试代码文件一次编译通过，覆盖率报告按类逐行可查。</a:t>
              </a:r>
            </a:p>
          </p:txBody>
        </p:sp>
      </p:grpSp>
      <p:grpSp>
        <p:nvGrpSpPr>
          <p:cNvPr id="43" name="foot-rule"/>
          <p:cNvGrpSpPr/>
          <p:nvPr/>
        </p:nvGrpSpPr>
        <p:grpSpPr>
          <a:xfrm>
            <a:off x="609600" y="6276975"/>
            <a:ext cx="10972800" cy="9525"/>
            <a:chOff x="609600" y="6276975"/>
            <a:chExt cx="10972800" cy="9525"/>
          </a:xfrm>
        </p:grpSpPr>
        <p:sp>
          <p:nvSpPr>
            <p:cNvPr id="42" name="Line 42"/>
            <p:cNvSpPr/>
            <p:nvPr/>
          </p:nvSpPr>
          <p:spPr>
            <a:xfrm>
              <a:off x="609600" y="6276975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45" name="foot-text"/>
          <p:cNvGrpSpPr/>
          <p:nvPr/>
        </p:nvGrpSpPr>
        <p:grpSpPr>
          <a:xfrm>
            <a:off x="603123" y="6438900"/>
            <a:ext cx="2769972" cy="250317"/>
            <a:chOff x="603123" y="6438900"/>
            <a:chExt cx="2769972" cy="250317"/>
          </a:xfrm>
        </p:grpSpPr>
        <p:sp>
          <p:nvSpPr>
            <p:cNvPr id="44" name="TextBox 44"/>
            <p:cNvSpPr txBox="1"/>
            <p:nvPr/>
          </p:nvSpPr>
          <p:spPr>
            <a:xfrm>
              <a:off x="603123" y="6438900"/>
              <a:ext cx="2769972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课题 2 · 单元测试框架与覆盖率分析</a:t>
              </a:r>
            </a:p>
          </p:txBody>
        </p:sp>
      </p:grpSp>
      <p:grpSp>
        <p:nvGrpSpPr>
          <p:cNvPr id="47" name="foot-pageno"/>
          <p:cNvGrpSpPr/>
          <p:nvPr/>
        </p:nvGrpSpPr>
        <p:grpSpPr>
          <a:xfrm>
            <a:off x="10912516" y="6438900"/>
            <a:ext cx="676361" cy="250317"/>
            <a:chOff x="10912516" y="6438900"/>
            <a:chExt cx="676361" cy="250317"/>
          </a:xfrm>
        </p:grpSpPr>
        <p:sp>
          <p:nvSpPr>
            <p:cNvPr id="46" name="TextBox 46"/>
            <p:cNvSpPr txBox="1"/>
            <p:nvPr/>
          </p:nvSpPr>
          <p:spPr>
            <a:xfrm>
              <a:off x="10912516" y="6438900"/>
              <a:ext cx="676361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80" dirty="0">
                  <a:solidFill>
                    <a:schemeClr val="accent5"/>
                  </a:solidFill>
                  <a:latin typeface="Consolas"/>
                  <a:ea typeface="Consolas"/>
                  <a:cs typeface="Consolas"/>
                </a:rPr>
                <a:t>05 / 13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masthead"/>
          <p:cNvGrpSpPr/>
          <p:nvPr/>
        </p:nvGrpSpPr>
        <p:grpSpPr>
          <a:xfrm>
            <a:off x="0" y="0"/>
            <a:ext cx="12192000" cy="57150"/>
            <a:chOff x="0" y="0"/>
            <a:chExt cx="12192000" cy="571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5715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79070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6" name="head-kicker"/>
          <p:cNvGrpSpPr/>
          <p:nvPr/>
        </p:nvGrpSpPr>
        <p:grpSpPr>
          <a:xfrm>
            <a:off x="601599" y="457200"/>
            <a:ext cx="694487" cy="308991"/>
            <a:chOff x="601599" y="457200"/>
            <a:chExt cx="694487" cy="308991"/>
          </a:xfrm>
        </p:grpSpPr>
        <p:sp>
          <p:nvSpPr>
            <p:cNvPr id="5" name="TextBox 5"/>
            <p:cNvSpPr txBox="1"/>
            <p:nvPr/>
          </p:nvSpPr>
          <p:spPr>
            <a:xfrm>
              <a:off x="601599" y="457200"/>
              <a:ext cx="69448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spc="150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要求三</a:t>
              </a:r>
            </a:p>
          </p:txBody>
        </p:sp>
      </p:grpSp>
      <p:grpSp>
        <p:nvGrpSpPr>
          <p:cNvPr id="8" name="head-title"/>
          <p:cNvGrpSpPr/>
          <p:nvPr/>
        </p:nvGrpSpPr>
        <p:grpSpPr>
          <a:xfrm>
            <a:off x="590550" y="781050"/>
            <a:ext cx="4244752" cy="577081"/>
            <a:chOff x="590550" y="781050"/>
            <a:chExt cx="4244752" cy="577081"/>
          </a:xfrm>
        </p:grpSpPr>
        <p:sp>
          <p:nvSpPr>
            <p:cNvPr id="7" name="TextBox 7"/>
            <p:cNvSpPr txBox="1"/>
            <p:nvPr/>
          </p:nvSpPr>
          <p:spPr>
            <a:xfrm>
              <a:off x="590550" y="781050"/>
              <a:ext cx="4244752" cy="5770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7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案例选取： 26 个类</a:t>
              </a:r>
            </a:p>
          </p:txBody>
        </p:sp>
      </p:grpSp>
      <p:grpSp>
        <p:nvGrpSpPr>
          <p:cNvPr id="10" name="head-rule"/>
          <p:cNvGrpSpPr/>
          <p:nvPr/>
        </p:nvGrpSpPr>
        <p:grpSpPr>
          <a:xfrm>
            <a:off x="609600" y="1600200"/>
            <a:ext cx="10972800" cy="9525"/>
            <a:chOff x="609600" y="1600200"/>
            <a:chExt cx="10972800" cy="9525"/>
          </a:xfrm>
        </p:grpSpPr>
        <p:sp>
          <p:nvSpPr>
            <p:cNvPr id="9" name="Line 9"/>
            <p:cNvSpPr/>
            <p:nvPr/>
          </p:nvSpPr>
          <p:spPr>
            <a:xfrm>
              <a:off x="609600" y="160020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13" name="point-01"/>
          <p:cNvGrpSpPr/>
          <p:nvPr/>
        </p:nvGrpSpPr>
        <p:grpSpPr>
          <a:xfrm>
            <a:off x="600075" y="1762125"/>
            <a:ext cx="2995384" cy="367665"/>
            <a:chOff x="600075" y="1762125"/>
            <a:chExt cx="2995384" cy="367665"/>
          </a:xfrm>
        </p:grpSpPr>
        <p:sp>
          <p:nvSpPr>
            <p:cNvPr id="11" name="TextBox 11"/>
            <p:cNvSpPr txBox="1"/>
            <p:nvPr/>
          </p:nvSpPr>
          <p:spPr>
            <a:xfrm>
              <a:off x="600075" y="1762125"/>
              <a:ext cx="778307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来源：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314450" y="1762125"/>
              <a:ext cx="2281009" cy="289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TheAlgorithms/Java</a:t>
              </a:r>
            </a:p>
          </p:txBody>
        </p:sp>
      </p:grpSp>
      <p:grpSp>
        <p:nvGrpSpPr>
          <p:cNvPr id="16" name="point-02"/>
          <p:cNvGrpSpPr/>
          <p:nvPr/>
        </p:nvGrpSpPr>
        <p:grpSpPr>
          <a:xfrm>
            <a:off x="600075" y="2162175"/>
            <a:ext cx="5497170" cy="367665"/>
            <a:chOff x="600075" y="2162175"/>
            <a:chExt cx="5497170" cy="367665"/>
          </a:xfrm>
        </p:grpSpPr>
        <p:sp>
          <p:nvSpPr>
            <p:cNvPr id="14" name="TextBox 14"/>
            <p:cNvSpPr txBox="1"/>
            <p:nvPr/>
          </p:nvSpPr>
          <p:spPr>
            <a:xfrm>
              <a:off x="600075" y="2162175"/>
              <a:ext cx="1537564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有自带测试：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2028825" y="2162175"/>
              <a:ext cx="4068420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没有基线就不能做对比，这是第一条</a:t>
              </a:r>
            </a:p>
          </p:txBody>
        </p:sp>
      </p:grpSp>
      <p:grpSp>
        <p:nvGrpSpPr>
          <p:cNvPr id="19" name="point-03"/>
          <p:cNvGrpSpPr/>
          <p:nvPr/>
        </p:nvGrpSpPr>
        <p:grpSpPr>
          <a:xfrm>
            <a:off x="600075" y="2562225"/>
            <a:ext cx="7258421" cy="367665"/>
            <a:chOff x="600075" y="2562225"/>
            <a:chExt cx="7258421" cy="367665"/>
          </a:xfrm>
        </p:grpSpPr>
        <p:sp>
          <p:nvSpPr>
            <p:cNvPr id="17" name="TextBox 17"/>
            <p:cNvSpPr txBox="1"/>
            <p:nvPr/>
          </p:nvSpPr>
          <p:spPr>
            <a:xfrm>
              <a:off x="600075" y="2562225"/>
              <a:ext cx="1284478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逻辑适中：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790700" y="2562225"/>
              <a:ext cx="6067796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主代码 40–200 行，太简单测不出差异，太复杂读不懂</a:t>
              </a:r>
            </a:p>
          </p:txBody>
        </p:sp>
      </p:grpSp>
      <p:grpSp>
        <p:nvGrpSpPr>
          <p:cNvPr id="22" name="point-04"/>
          <p:cNvGrpSpPr/>
          <p:nvPr/>
        </p:nvGrpSpPr>
        <p:grpSpPr>
          <a:xfrm>
            <a:off x="600075" y="2962275"/>
            <a:ext cx="7298690" cy="367665"/>
            <a:chOff x="600075" y="2962275"/>
            <a:chExt cx="7298690" cy="367665"/>
          </a:xfrm>
        </p:grpSpPr>
        <p:sp>
          <p:nvSpPr>
            <p:cNvPr id="20" name="TextBox 20"/>
            <p:cNvSpPr txBox="1"/>
            <p:nvPr/>
          </p:nvSpPr>
          <p:spPr>
            <a:xfrm>
              <a:off x="600075" y="2962275"/>
              <a:ext cx="103139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可复现：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552575" y="2962275"/>
              <a:ext cx="6346190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不依赖网络、数据库、文件；不用随机数、不看当前时间</a:t>
              </a:r>
            </a:p>
          </p:txBody>
        </p:sp>
      </p:grpSp>
      <p:grpSp>
        <p:nvGrpSpPr>
          <p:cNvPr id="24" name="dist-label"/>
          <p:cNvGrpSpPr/>
          <p:nvPr/>
        </p:nvGrpSpPr>
        <p:grpSpPr>
          <a:xfrm>
            <a:off x="601599" y="3524250"/>
            <a:ext cx="3350600" cy="308991"/>
            <a:chOff x="601599" y="3524250"/>
            <a:chExt cx="3350600" cy="308991"/>
          </a:xfrm>
        </p:grpSpPr>
        <p:sp>
          <p:nvSpPr>
            <p:cNvPr id="23" name="TextBox 23"/>
            <p:cNvSpPr txBox="1"/>
            <p:nvPr/>
          </p:nvSpPr>
          <p:spPr>
            <a:xfrm>
              <a:off x="601599" y="3524250"/>
              <a:ext cx="33506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类型分布：26 个案例覆盖 5 类算法</a:t>
              </a:r>
            </a:p>
          </p:txBody>
        </p:sp>
      </p:grpSp>
      <p:grpSp>
        <p:nvGrpSpPr>
          <p:cNvPr id="36" name="stat-band"/>
          <p:cNvGrpSpPr/>
          <p:nvPr/>
        </p:nvGrpSpPr>
        <p:grpSpPr>
          <a:xfrm>
            <a:off x="590550" y="3924300"/>
            <a:ext cx="10991850" cy="975741"/>
            <a:chOff x="590550" y="3924300"/>
            <a:chExt cx="10991850" cy="975741"/>
          </a:xfrm>
        </p:grpSpPr>
        <p:sp>
          <p:nvSpPr>
            <p:cNvPr id="25" name="Line 25"/>
            <p:cNvSpPr/>
            <p:nvPr/>
          </p:nvSpPr>
          <p:spPr>
            <a:xfrm>
              <a:off x="609600" y="392430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90550" y="4032250"/>
              <a:ext cx="315754" cy="7334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750" b="1" dirty="0">
                  <a:solidFill>
                    <a:schemeClr val="accent2"/>
                  </a:solidFill>
                  <a:latin typeface="Consolas"/>
                  <a:ea typeface="Consolas"/>
                  <a:cs typeface="Consolas"/>
                </a:rPr>
                <a:t>8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01599" y="4591050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数学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2781300" y="4032250"/>
              <a:ext cx="315754" cy="7334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750" b="1" dirty="0">
                  <a:solidFill>
                    <a:schemeClr val="accent2"/>
                  </a:solidFill>
                  <a:latin typeface="Consolas"/>
                  <a:ea typeface="Consolas"/>
                  <a:cs typeface="Consolas"/>
                </a:rPr>
                <a:t>5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2792349" y="4591050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搜索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4972050" y="4032250"/>
              <a:ext cx="315754" cy="7334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750" b="1" dirty="0">
                  <a:solidFill>
                    <a:schemeClr val="accent2"/>
                  </a:solidFill>
                  <a:latin typeface="Consolas"/>
                  <a:ea typeface="Consolas"/>
                  <a:cs typeface="Consolas"/>
                </a:rPr>
                <a:t>4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4983099" y="4591050"/>
              <a:ext cx="6541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字符串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7162800" y="4032250"/>
              <a:ext cx="315754" cy="7334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750" b="1" dirty="0">
                  <a:solidFill>
                    <a:schemeClr val="accent2"/>
                  </a:solidFill>
                  <a:latin typeface="Consolas"/>
                  <a:ea typeface="Consolas"/>
                  <a:cs typeface="Consolas"/>
                </a:rPr>
                <a:t>2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7173849" y="4591050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排序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353550" y="4032250"/>
              <a:ext cx="315754" cy="7334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750" b="1" dirty="0">
                  <a:solidFill>
                    <a:schemeClr val="accent2"/>
                  </a:solidFill>
                  <a:latin typeface="Consolas"/>
                  <a:ea typeface="Consolas"/>
                  <a:cs typeface="Consolas"/>
                </a:rPr>
                <a:t>7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9364599" y="4591050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其他</a:t>
              </a:r>
            </a:p>
          </p:txBody>
        </p:sp>
      </p:grpSp>
      <p:grpSp>
        <p:nvGrpSpPr>
          <p:cNvPr id="42" name="callout-band"/>
          <p:cNvGrpSpPr/>
          <p:nvPr/>
        </p:nvGrpSpPr>
        <p:grpSpPr>
          <a:xfrm>
            <a:off x="609600" y="5143500"/>
            <a:ext cx="10972800" cy="660463"/>
            <a:chOff x="609600" y="5143500"/>
            <a:chExt cx="10972800" cy="660463"/>
          </a:xfrm>
        </p:grpSpPr>
        <p:sp>
          <p:nvSpPr>
            <p:cNvPr id="37" name="Rectangle 37"/>
            <p:cNvSpPr/>
            <p:nvPr/>
          </p:nvSpPr>
          <p:spPr>
            <a:xfrm>
              <a:off x="609600" y="5143500"/>
              <a:ext cx="10972800" cy="6477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8" name="Rectangle 38"/>
            <p:cNvSpPr/>
            <p:nvPr/>
          </p:nvSpPr>
          <p:spPr>
            <a:xfrm>
              <a:off x="609600" y="5143500"/>
              <a:ext cx="38100" cy="6477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830199" y="5200650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两次返工：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1830324" y="5200650"/>
              <a:ext cx="795919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QuickSort / MergeSort 的测试继承父类 38 个方法、规模不可比，换成独立编写的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830199" y="5494972"/>
              <a:ext cx="944883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InsertionSort / BubbleSort；RomanNumeralUtil 没有自带测试，换成 MedianOfRunningArray。</a:t>
              </a:r>
            </a:p>
          </p:txBody>
        </p:sp>
      </p:grpSp>
      <p:grpSp>
        <p:nvGrpSpPr>
          <p:cNvPr id="44" name="foot-rule"/>
          <p:cNvGrpSpPr/>
          <p:nvPr/>
        </p:nvGrpSpPr>
        <p:grpSpPr>
          <a:xfrm>
            <a:off x="609600" y="6276975"/>
            <a:ext cx="10972800" cy="9525"/>
            <a:chOff x="609600" y="6276975"/>
            <a:chExt cx="10972800" cy="9525"/>
          </a:xfrm>
        </p:grpSpPr>
        <p:sp>
          <p:nvSpPr>
            <p:cNvPr id="43" name="Line 43"/>
            <p:cNvSpPr/>
            <p:nvPr/>
          </p:nvSpPr>
          <p:spPr>
            <a:xfrm>
              <a:off x="609600" y="6276975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46" name="foot-text"/>
          <p:cNvGrpSpPr/>
          <p:nvPr/>
        </p:nvGrpSpPr>
        <p:grpSpPr>
          <a:xfrm>
            <a:off x="603123" y="6438900"/>
            <a:ext cx="2769972" cy="250317"/>
            <a:chOff x="603123" y="6438900"/>
            <a:chExt cx="2769972" cy="250317"/>
          </a:xfrm>
        </p:grpSpPr>
        <p:sp>
          <p:nvSpPr>
            <p:cNvPr id="45" name="TextBox 45"/>
            <p:cNvSpPr txBox="1"/>
            <p:nvPr/>
          </p:nvSpPr>
          <p:spPr>
            <a:xfrm>
              <a:off x="603123" y="6438900"/>
              <a:ext cx="2769972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课题 2 · 单元测试框架与覆盖率分析</a:t>
              </a:r>
            </a:p>
          </p:txBody>
        </p:sp>
      </p:grpSp>
      <p:grpSp>
        <p:nvGrpSpPr>
          <p:cNvPr id="48" name="foot-pageno"/>
          <p:cNvGrpSpPr/>
          <p:nvPr/>
        </p:nvGrpSpPr>
        <p:grpSpPr>
          <a:xfrm>
            <a:off x="10912516" y="6438900"/>
            <a:ext cx="676361" cy="250317"/>
            <a:chOff x="10912516" y="6438900"/>
            <a:chExt cx="676361" cy="250317"/>
          </a:xfrm>
        </p:grpSpPr>
        <p:sp>
          <p:nvSpPr>
            <p:cNvPr id="47" name="TextBox 47"/>
            <p:cNvSpPr txBox="1"/>
            <p:nvPr/>
          </p:nvSpPr>
          <p:spPr>
            <a:xfrm>
              <a:off x="10912516" y="6438900"/>
              <a:ext cx="676361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80" dirty="0">
                  <a:solidFill>
                    <a:schemeClr val="accent5"/>
                  </a:solidFill>
                  <a:latin typeface="Consolas"/>
                  <a:ea typeface="Consolas"/>
                  <a:cs typeface="Consolas"/>
                </a:rPr>
                <a:t>06 / 13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masthead"/>
          <p:cNvGrpSpPr/>
          <p:nvPr/>
        </p:nvGrpSpPr>
        <p:grpSpPr>
          <a:xfrm>
            <a:off x="0" y="0"/>
            <a:ext cx="12192000" cy="57150"/>
            <a:chOff x="0" y="0"/>
            <a:chExt cx="12192000" cy="571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5715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79070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6" name="head-kicker"/>
          <p:cNvGrpSpPr/>
          <p:nvPr/>
        </p:nvGrpSpPr>
        <p:grpSpPr>
          <a:xfrm>
            <a:off x="601599" y="457200"/>
            <a:ext cx="694487" cy="308991"/>
            <a:chOff x="601599" y="457200"/>
            <a:chExt cx="694487" cy="308991"/>
          </a:xfrm>
        </p:grpSpPr>
        <p:sp>
          <p:nvSpPr>
            <p:cNvPr id="5" name="TextBox 5"/>
            <p:cNvSpPr txBox="1"/>
            <p:nvPr/>
          </p:nvSpPr>
          <p:spPr>
            <a:xfrm>
              <a:off x="601599" y="457200"/>
              <a:ext cx="69448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spc="150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要求四</a:t>
              </a:r>
            </a:p>
          </p:txBody>
        </p:sp>
      </p:grpSp>
      <p:grpSp>
        <p:nvGrpSpPr>
          <p:cNvPr id="8" name="head-title"/>
          <p:cNvGrpSpPr/>
          <p:nvPr/>
        </p:nvGrpSpPr>
        <p:grpSpPr>
          <a:xfrm>
            <a:off x="590550" y="781050"/>
            <a:ext cx="6096000" cy="733425"/>
            <a:chOff x="590550" y="781050"/>
            <a:chExt cx="6096000" cy="733425"/>
          </a:xfrm>
        </p:grpSpPr>
        <p:sp>
          <p:nvSpPr>
            <p:cNvPr id="7" name="TextBox 7"/>
            <p:cNvSpPr txBox="1"/>
            <p:nvPr/>
          </p:nvSpPr>
          <p:spPr>
            <a:xfrm>
              <a:off x="590550" y="781050"/>
              <a:ext cx="6096000" cy="7334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7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实验设计：四组测试怎么比</a:t>
              </a:r>
            </a:p>
          </p:txBody>
        </p:sp>
      </p:grpSp>
      <p:grpSp>
        <p:nvGrpSpPr>
          <p:cNvPr id="10" name="head-rule"/>
          <p:cNvGrpSpPr/>
          <p:nvPr/>
        </p:nvGrpSpPr>
        <p:grpSpPr>
          <a:xfrm>
            <a:off x="609600" y="1600200"/>
            <a:ext cx="10972800" cy="9525"/>
            <a:chOff x="609600" y="1600200"/>
            <a:chExt cx="10972800" cy="9525"/>
          </a:xfrm>
        </p:grpSpPr>
        <p:sp>
          <p:nvSpPr>
            <p:cNvPr id="9" name="Line 9"/>
            <p:cNvSpPr/>
            <p:nvPr/>
          </p:nvSpPr>
          <p:spPr>
            <a:xfrm>
              <a:off x="609600" y="160020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15" name="group-a"/>
          <p:cNvGrpSpPr/>
          <p:nvPr/>
        </p:nvGrpSpPr>
        <p:grpSpPr>
          <a:xfrm>
            <a:off x="590550" y="1841500"/>
            <a:ext cx="5391150" cy="1234440"/>
            <a:chOff x="590550" y="1841500"/>
            <a:chExt cx="5391150" cy="1234440"/>
          </a:xfrm>
        </p:grpSpPr>
        <p:sp>
          <p:nvSpPr>
            <p:cNvPr id="11" name="Line 11"/>
            <p:cNvSpPr/>
            <p:nvPr/>
          </p:nvSpPr>
          <p:spPr>
            <a:xfrm>
              <a:off x="609600" y="1905000"/>
              <a:ext cx="5372100" cy="9525"/>
            </a:xfrm>
            <a:custGeom>
              <a:avLst/>
              <a:gdLst/>
              <a:ahLst/>
              <a:cxnLst/>
              <a:rect l="l" t="t" r="r" b="b"/>
              <a:pathLst>
                <a:path w="5372100" h="9525">
                  <a:moveTo>
                    <a:pt x="0" y="0"/>
                  </a:moveTo>
                  <a:lnTo>
                    <a:pt x="53721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590550" y="1841500"/>
              <a:ext cx="331470" cy="7334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3750" b="1" dirty="0">
                  <a:solidFill>
                    <a:schemeClr val="accent2"/>
                  </a:solidFill>
                  <a:latin typeface="Consolas"/>
                  <a:ea typeface="Consolas"/>
                  <a:cs typeface="Consolas"/>
                </a:rPr>
                <a:t>A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131951" y="1943100"/>
              <a:ext cx="609041" cy="4263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人工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00075" y="2374900"/>
              <a:ext cx="4650994" cy="7010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625"/>
                </a:lnSpc>
              </a:pPr>
              <a:r>
                <a:rPr lang="zh-CN" sz="18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两位同学各写 13 个，每案例限时 25 分钟，</a:t>
              </a:r>
              <a:br>
                <a:rPr lang="zh-CN" sz="18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8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动手前看不到仓库自带的测试</a:t>
              </a:r>
            </a:p>
          </p:txBody>
        </p:sp>
      </p:grpSp>
      <p:grpSp>
        <p:nvGrpSpPr>
          <p:cNvPr id="20" name="group-b"/>
          <p:cNvGrpSpPr/>
          <p:nvPr/>
        </p:nvGrpSpPr>
        <p:grpSpPr>
          <a:xfrm>
            <a:off x="6191250" y="1841500"/>
            <a:ext cx="5391150" cy="1234440"/>
            <a:chOff x="6191250" y="1841500"/>
            <a:chExt cx="5391150" cy="1234440"/>
          </a:xfrm>
        </p:grpSpPr>
        <p:sp>
          <p:nvSpPr>
            <p:cNvPr id="16" name="Line 16"/>
            <p:cNvSpPr/>
            <p:nvPr/>
          </p:nvSpPr>
          <p:spPr>
            <a:xfrm>
              <a:off x="6210300" y="1905000"/>
              <a:ext cx="5372100" cy="9525"/>
            </a:xfrm>
            <a:custGeom>
              <a:avLst/>
              <a:gdLst/>
              <a:ahLst/>
              <a:cxnLst/>
              <a:rect l="l" t="t" r="r" b="b"/>
              <a:pathLst>
                <a:path w="5372100" h="9525">
                  <a:moveTo>
                    <a:pt x="0" y="0"/>
                  </a:moveTo>
                  <a:lnTo>
                    <a:pt x="53721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191250" y="1841500"/>
              <a:ext cx="331470" cy="7334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3750" b="1" dirty="0">
                  <a:solidFill>
                    <a:schemeClr val="accent2"/>
                  </a:solidFill>
                  <a:latin typeface="Consolas"/>
                  <a:ea typeface="Consolas"/>
                  <a:cs typeface="Consolas"/>
                </a:rPr>
                <a:t>B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732651" y="1943100"/>
              <a:ext cx="1489456" cy="4263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数据集自带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200775" y="2374900"/>
              <a:ext cx="4555490" cy="7010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625"/>
                </a:lnSpc>
              </a:pPr>
              <a:r>
                <a:rPr lang="zh-CN" sz="18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原测试改名 XxxDatasetTest，一行未改，</a:t>
              </a:r>
              <a:br>
                <a:rPr lang="zh-CN" sz="18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8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代表上游作者的水平</a:t>
              </a:r>
            </a:p>
          </p:txBody>
        </p:sp>
      </p:grpSp>
      <p:grpSp>
        <p:nvGrpSpPr>
          <p:cNvPr id="25" name="group-c"/>
          <p:cNvGrpSpPr/>
          <p:nvPr/>
        </p:nvGrpSpPr>
        <p:grpSpPr>
          <a:xfrm>
            <a:off x="590550" y="3289300"/>
            <a:ext cx="5391150" cy="1234440"/>
            <a:chOff x="590550" y="3289300"/>
            <a:chExt cx="5391150" cy="1234440"/>
          </a:xfrm>
        </p:grpSpPr>
        <p:sp>
          <p:nvSpPr>
            <p:cNvPr id="21" name="Line 21"/>
            <p:cNvSpPr/>
            <p:nvPr/>
          </p:nvSpPr>
          <p:spPr>
            <a:xfrm>
              <a:off x="609600" y="3352800"/>
              <a:ext cx="5372100" cy="9525"/>
            </a:xfrm>
            <a:custGeom>
              <a:avLst/>
              <a:gdLst/>
              <a:ahLst/>
              <a:cxnLst/>
              <a:rect l="l" t="t" r="r" b="b"/>
              <a:pathLst>
                <a:path w="5372100" h="9525">
                  <a:moveTo>
                    <a:pt x="0" y="0"/>
                  </a:moveTo>
                  <a:lnTo>
                    <a:pt x="53721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590550" y="3289300"/>
              <a:ext cx="331470" cy="7334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3750" b="1" dirty="0">
                  <a:solidFill>
                    <a:schemeClr val="accent2"/>
                  </a:solidFill>
                  <a:latin typeface="Consolas"/>
                  <a:ea typeface="Consolas"/>
                  <a:cs typeface="Consolas"/>
                </a:rPr>
                <a:t>C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131951" y="3390900"/>
              <a:ext cx="885790" cy="4263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Kimi K3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00075" y="3822700"/>
              <a:ext cx="3839210" cy="868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625"/>
                </a:lnSpc>
              </a:pPr>
              <a:r>
                <a:rPr lang="zh-CN" sz="18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同一份 Prompt、一次只喂一个类、</a:t>
              </a:r>
              <a:br>
                <a:rPr lang="zh-CN" sz="18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8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只给源码不给原测试，输出原样保存</a:t>
              </a:r>
            </a:p>
            <a:p>
              <a:pPr>
                <a:spcBef>
                  <a:spcPts val="300"/>
                </a:spcBef>
              </a:pPr>
              <a:r>
                <a:rPr sz="1250">
                  <a:solidFill>
                    <a:srgbClr val="5A6673"/>
                  </a:solidFill>
                </a:rPr>
                <a:t>（kimi-k3-1-pro-261024）</a:t>
              </a:r>
            </a:p>
          </p:txBody>
        </p:sp>
      </p:grpSp>
      <p:grpSp>
        <p:nvGrpSpPr>
          <p:cNvPr id="30" name="group-d"/>
          <p:cNvGrpSpPr/>
          <p:nvPr/>
        </p:nvGrpSpPr>
        <p:grpSpPr>
          <a:xfrm>
            <a:off x="6191250" y="3289300"/>
            <a:ext cx="5391150" cy="1234440"/>
            <a:chOff x="6191250" y="3289300"/>
            <a:chExt cx="5391150" cy="1234440"/>
          </a:xfrm>
        </p:grpSpPr>
        <p:sp>
          <p:nvSpPr>
            <p:cNvPr id="26" name="Line 26"/>
            <p:cNvSpPr/>
            <p:nvPr/>
          </p:nvSpPr>
          <p:spPr>
            <a:xfrm>
              <a:off x="6210300" y="3352800"/>
              <a:ext cx="5372100" cy="9525"/>
            </a:xfrm>
            <a:custGeom>
              <a:avLst/>
              <a:gdLst/>
              <a:ahLst/>
              <a:cxnLst/>
              <a:rect l="l" t="t" r="r" b="b"/>
              <a:pathLst>
                <a:path w="5372100" h="9525">
                  <a:moveTo>
                    <a:pt x="0" y="0"/>
                  </a:moveTo>
                  <a:lnTo>
                    <a:pt x="53721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191250" y="3289300"/>
              <a:ext cx="331470" cy="7334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3750" b="1" dirty="0">
                  <a:solidFill>
                    <a:schemeClr val="accent2"/>
                  </a:solidFill>
                  <a:latin typeface="Consolas"/>
                  <a:ea typeface="Consolas"/>
                  <a:cs typeface="Consolas"/>
                </a:rPr>
                <a:t>D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732651" y="3390900"/>
              <a:ext cx="885790" cy="4263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DeepSeek V4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200775" y="3822700"/>
              <a:ext cx="3158744" cy="868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625"/>
                </a:lnSpc>
              </a:pPr>
              <a:r>
                <a:rPr lang="zh-CN" sz="18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与 C 完全相同的模板与流程，</a:t>
              </a:r>
              <a:br>
                <a:rPr lang="zh-CN" sz="18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8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只换模型，两款各 26 个</a:t>
              </a:r>
            </a:p>
            <a:p>
              <a:pPr>
                <a:spcBef>
                  <a:spcPts val="300"/>
                </a:spcBef>
              </a:pPr>
              <a:r>
                <a:rPr sz="1250">
                  <a:solidFill>
                    <a:srgbClr val="5A6673"/>
                  </a:solidFill>
                </a:rPr>
                <a:t>（deepseek-v4-1-flash-economy-261017）</a:t>
              </a:r>
            </a:p>
          </p:txBody>
        </p:sp>
      </p:grpSp>
      <p:grpSp>
        <p:nvGrpSpPr>
          <p:cNvPr id="33" name="formula-band"/>
          <p:cNvGrpSpPr/>
          <p:nvPr/>
        </p:nvGrpSpPr>
        <p:grpSpPr>
          <a:xfrm>
            <a:off x="609600" y="4819650"/>
            <a:ext cx="10972800" cy="736282"/>
            <a:chOff x="609600" y="4819650"/>
            <a:chExt cx="10972800" cy="736282"/>
          </a:xfrm>
        </p:grpSpPr>
        <p:sp>
          <p:nvSpPr>
            <p:cNvPr id="31" name="Rectangle 31"/>
            <p:cNvSpPr/>
            <p:nvPr/>
          </p:nvSpPr>
          <p:spPr>
            <a:xfrm>
              <a:off x="609600" y="4819650"/>
              <a:ext cx="10972800" cy="70485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752475" y="4914900"/>
              <a:ext cx="6440170" cy="64103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60"/>
                </a:lnSpc>
              </a:pPr>
              <a:r>
                <a:rPr lang="zh-CN" sz="18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26 + 26 + 24 + 26 = 102 个测试类</a:t>
              </a:r>
            </a:p>
            <a:p>
              <a:pPr algn="l">
                <a:lnSpc>
                  <a:spcPts val="2160"/>
                </a:lnSpc>
              </a:pPr>
              <a:r>
                <a:rPr lang="zh-CN" sz="15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（Kimi K3 有 2 例三次重试均超时，无产出，对比落在 24 个共同案例上）</a:t>
              </a:r>
            </a:p>
          </p:txBody>
        </p:sp>
      </p:grpSp>
      <p:grpSp>
        <p:nvGrpSpPr>
          <p:cNvPr id="36" name="rule-note"/>
          <p:cNvGrpSpPr/>
          <p:nvPr/>
        </p:nvGrpSpPr>
        <p:grpSpPr>
          <a:xfrm>
            <a:off x="600075" y="5715000"/>
            <a:ext cx="11020171" cy="367665"/>
            <a:chOff x="600075" y="5715000"/>
            <a:chExt cx="11020171" cy="367665"/>
          </a:xfrm>
        </p:grpSpPr>
        <p:sp>
          <p:nvSpPr>
            <p:cNvPr id="34" name="TextBox 34"/>
            <p:cNvSpPr txBox="1"/>
            <p:nvPr/>
          </p:nvSpPr>
          <p:spPr>
            <a:xfrm>
              <a:off x="600075" y="5715000"/>
              <a:ext cx="2296820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两条不让步的规则：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2743200" y="5715000"/>
              <a:ext cx="8877046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生成时模型只看到被测类源码；输出不做任何人工修改，编不过就直接记编不过</a:t>
              </a:r>
            </a:p>
          </p:txBody>
        </p:sp>
      </p:grpSp>
      <p:grpSp>
        <p:nvGrpSpPr>
          <p:cNvPr id="38" name="foot-rule"/>
          <p:cNvGrpSpPr/>
          <p:nvPr/>
        </p:nvGrpSpPr>
        <p:grpSpPr>
          <a:xfrm>
            <a:off x="609600" y="6276975"/>
            <a:ext cx="10972800" cy="9525"/>
            <a:chOff x="609600" y="6276975"/>
            <a:chExt cx="10972800" cy="9525"/>
          </a:xfrm>
        </p:grpSpPr>
        <p:sp>
          <p:nvSpPr>
            <p:cNvPr id="37" name="Line 37"/>
            <p:cNvSpPr/>
            <p:nvPr/>
          </p:nvSpPr>
          <p:spPr>
            <a:xfrm>
              <a:off x="609600" y="6276975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40" name="foot-text"/>
          <p:cNvGrpSpPr/>
          <p:nvPr/>
        </p:nvGrpSpPr>
        <p:grpSpPr>
          <a:xfrm>
            <a:off x="603123" y="6438900"/>
            <a:ext cx="2769972" cy="250317"/>
            <a:chOff x="603123" y="6438900"/>
            <a:chExt cx="2769972" cy="250317"/>
          </a:xfrm>
        </p:grpSpPr>
        <p:sp>
          <p:nvSpPr>
            <p:cNvPr id="39" name="TextBox 39"/>
            <p:cNvSpPr txBox="1"/>
            <p:nvPr/>
          </p:nvSpPr>
          <p:spPr>
            <a:xfrm>
              <a:off x="603123" y="6438900"/>
              <a:ext cx="2769972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课题 2 · 单元测试框架与覆盖率分析</a:t>
              </a:r>
            </a:p>
          </p:txBody>
        </p:sp>
      </p:grpSp>
      <p:grpSp>
        <p:nvGrpSpPr>
          <p:cNvPr id="42" name="foot-pageno"/>
          <p:cNvGrpSpPr/>
          <p:nvPr/>
        </p:nvGrpSpPr>
        <p:grpSpPr>
          <a:xfrm>
            <a:off x="10912516" y="6438900"/>
            <a:ext cx="676361" cy="250317"/>
            <a:chOff x="10912516" y="6438900"/>
            <a:chExt cx="676361" cy="250317"/>
          </a:xfrm>
        </p:grpSpPr>
        <p:sp>
          <p:nvSpPr>
            <p:cNvPr id="41" name="TextBox 41"/>
            <p:cNvSpPr txBox="1"/>
            <p:nvPr/>
          </p:nvSpPr>
          <p:spPr>
            <a:xfrm>
              <a:off x="10912516" y="6438900"/>
              <a:ext cx="676361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80" dirty="0">
                  <a:solidFill>
                    <a:schemeClr val="accent5"/>
                  </a:solidFill>
                  <a:latin typeface="Consolas"/>
                  <a:ea typeface="Consolas"/>
                  <a:cs typeface="Consolas"/>
                </a:rPr>
                <a:t>07 / 13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masthead"/>
          <p:cNvGrpSpPr/>
          <p:nvPr/>
        </p:nvGrpSpPr>
        <p:grpSpPr>
          <a:xfrm>
            <a:off x="0" y="0"/>
            <a:ext cx="12192000" cy="57150"/>
            <a:chOff x="0" y="0"/>
            <a:chExt cx="12192000" cy="571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5715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79070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lstStyle/>
            <a:p>
              <a:endParaRPr/>
            </a:p>
          </p:txBody>
        </p:sp>
      </p:grpSp>
      <p:grpSp>
        <p:nvGrpSpPr>
          <p:cNvPr id="6" name="head-kicker"/>
          <p:cNvGrpSpPr/>
          <p:nvPr/>
        </p:nvGrpSpPr>
        <p:grpSpPr>
          <a:xfrm>
            <a:off x="601599" y="457200"/>
            <a:ext cx="461594" cy="308991"/>
            <a:chOff x="601599" y="457200"/>
            <a:chExt cx="461594" cy="308991"/>
          </a:xfrm>
        </p:grpSpPr>
        <p:sp>
          <p:nvSpPr>
            <p:cNvPr id="5" name="TextBox 5"/>
            <p:cNvSpPr txBox="1"/>
            <p:nvPr/>
          </p:nvSpPr>
          <p:spPr>
            <a:xfrm>
              <a:off x="601599" y="457200"/>
              <a:ext cx="461594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spc="150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方法</a:t>
              </a:r>
            </a:p>
          </p:txBody>
        </p:sp>
      </p:grpSp>
      <p:grpSp>
        <p:nvGrpSpPr>
          <p:cNvPr id="8" name="head-title"/>
          <p:cNvGrpSpPr/>
          <p:nvPr/>
        </p:nvGrpSpPr>
        <p:grpSpPr>
          <a:xfrm>
            <a:off x="590550" y="781050"/>
            <a:ext cx="3571875" cy="733425"/>
            <a:chOff x="590550" y="781050"/>
            <a:chExt cx="3571875" cy="733425"/>
          </a:xfrm>
        </p:grpSpPr>
        <p:sp>
          <p:nvSpPr>
            <p:cNvPr id="7" name="TextBox 7"/>
            <p:cNvSpPr txBox="1"/>
            <p:nvPr/>
          </p:nvSpPr>
          <p:spPr>
            <a:xfrm>
              <a:off x="590550" y="781050"/>
              <a:ext cx="3571875" cy="7334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7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四个指标怎么算</a:t>
              </a:r>
            </a:p>
          </p:txBody>
        </p:sp>
      </p:grpSp>
      <p:grpSp>
        <p:nvGrpSpPr>
          <p:cNvPr id="10" name="head-rule"/>
          <p:cNvGrpSpPr/>
          <p:nvPr/>
        </p:nvGrpSpPr>
        <p:grpSpPr>
          <a:xfrm>
            <a:off x="609600" y="1600200"/>
            <a:ext cx="10972800" cy="9525"/>
            <a:chOff x="609600" y="1600200"/>
            <a:chExt cx="10972800" cy="9525"/>
          </a:xfrm>
        </p:grpSpPr>
        <p:sp>
          <p:nvSpPr>
            <p:cNvPr id="9" name="Line 9"/>
            <p:cNvSpPr/>
            <p:nvPr/>
          </p:nvSpPr>
          <p:spPr>
            <a:xfrm>
              <a:off x="609600" y="160020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  <p:txBody>
            <a:bodyPr/>
            <a:lstStyle/>
            <a:p>
              <a:endParaRPr/>
            </a:p>
          </p:txBody>
        </p:sp>
      </p:grpSp>
      <p:grpSp>
        <p:nvGrpSpPr>
          <p:cNvPr id="14" name="metric-scale"/>
          <p:cNvGrpSpPr/>
          <p:nvPr/>
        </p:nvGrpSpPr>
        <p:grpSpPr>
          <a:xfrm>
            <a:off x="598551" y="1905000"/>
            <a:ext cx="5383149" cy="1542415"/>
            <a:chOff x="598551" y="1905000"/>
            <a:chExt cx="5383149" cy="1542415"/>
          </a:xfrm>
        </p:grpSpPr>
        <p:sp>
          <p:nvSpPr>
            <p:cNvPr id="11" name="Line 11"/>
            <p:cNvSpPr/>
            <p:nvPr/>
          </p:nvSpPr>
          <p:spPr>
            <a:xfrm>
              <a:off x="609600" y="1905000"/>
              <a:ext cx="5372100" cy="9525"/>
            </a:xfrm>
            <a:custGeom>
              <a:avLst/>
              <a:gdLst/>
              <a:ahLst/>
              <a:cxnLst/>
              <a:rect l="l" t="t" r="r" b="b"/>
              <a:pathLst>
                <a:path w="5372100" h="9525">
                  <a:moveTo>
                    <a:pt x="0" y="0"/>
                  </a:moveTo>
                  <a:lnTo>
                    <a:pt x="53721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598551" y="1981200"/>
              <a:ext cx="609041" cy="4263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规模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600075" y="2413000"/>
              <a:ext cx="3886962" cy="103441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625"/>
                </a:lnSpc>
              </a:pPr>
              <a:r>
                <a:rPr lang="zh-CN" sz="18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测试方法数 = @Test 标注的方法个数</a:t>
              </a:r>
              <a:br>
                <a:rPr lang="zh-CN" sz="18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8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断言数 = assert*() 调用次数</a:t>
              </a:r>
              <a:br>
                <a:rPr lang="zh-CN" sz="18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8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断言密度 = 断言数 ÷ 测试方法数</a:t>
              </a:r>
            </a:p>
          </p:txBody>
        </p:sp>
      </p:grpSp>
      <p:grpSp>
        <p:nvGrpSpPr>
          <p:cNvPr id="18" name="metric-compile"/>
          <p:cNvGrpSpPr/>
          <p:nvPr/>
        </p:nvGrpSpPr>
        <p:grpSpPr>
          <a:xfrm>
            <a:off x="6199251" y="1905000"/>
            <a:ext cx="5383149" cy="1542415"/>
            <a:chOff x="6199251" y="1905000"/>
            <a:chExt cx="5383149" cy="1542415"/>
          </a:xfrm>
        </p:grpSpPr>
        <p:sp>
          <p:nvSpPr>
            <p:cNvPr id="15" name="Line 15"/>
            <p:cNvSpPr/>
            <p:nvPr/>
          </p:nvSpPr>
          <p:spPr>
            <a:xfrm>
              <a:off x="6210300" y="1905000"/>
              <a:ext cx="5372100" cy="9525"/>
            </a:xfrm>
            <a:custGeom>
              <a:avLst/>
              <a:gdLst/>
              <a:ahLst/>
              <a:cxnLst/>
              <a:rect l="l" t="t" r="r" b="b"/>
              <a:pathLst>
                <a:path w="5372100" h="9525">
                  <a:moveTo>
                    <a:pt x="0" y="0"/>
                  </a:moveTo>
                  <a:lnTo>
                    <a:pt x="53721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199251" y="1981200"/>
              <a:ext cx="1195984" cy="4263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可编译性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200775" y="2413000"/>
              <a:ext cx="3875024" cy="103441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625"/>
                </a:lnSpc>
              </a:pPr>
              <a:r>
                <a:rPr lang="zh-CN" sz="18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编译通过的测试类 ÷ 该组应有测试类</a:t>
              </a:r>
              <a:br>
                <a:rPr lang="zh-CN" sz="18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8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无产出（服务端超时未生成）计为不可编译</a:t>
              </a:r>
              <a:br>
                <a:rPr lang="zh-CN" sz="18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8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Kimi K3：24 ÷ 26 = 92.31%</a:t>
              </a:r>
            </a:p>
          </p:txBody>
        </p:sp>
      </p:grpSp>
      <p:grpSp>
        <p:nvGrpSpPr>
          <p:cNvPr id="22" name="metric-redundancy"/>
          <p:cNvGrpSpPr/>
          <p:nvPr/>
        </p:nvGrpSpPr>
        <p:grpSpPr>
          <a:xfrm>
            <a:off x="598551" y="3543300"/>
            <a:ext cx="5383149" cy="1542415"/>
            <a:chOff x="598551" y="3543300"/>
            <a:chExt cx="5383149" cy="1542415"/>
          </a:xfrm>
        </p:grpSpPr>
        <p:sp>
          <p:nvSpPr>
            <p:cNvPr id="19" name="Line 19"/>
            <p:cNvSpPr/>
            <p:nvPr/>
          </p:nvSpPr>
          <p:spPr>
            <a:xfrm>
              <a:off x="609600" y="3543300"/>
              <a:ext cx="5372100" cy="9525"/>
            </a:xfrm>
            <a:custGeom>
              <a:avLst/>
              <a:gdLst/>
              <a:ahLst/>
              <a:cxnLst/>
              <a:rect l="l" t="t" r="r" b="b"/>
              <a:pathLst>
                <a:path w="5372100" h="9525">
                  <a:moveTo>
                    <a:pt x="0" y="0"/>
                  </a:moveTo>
                  <a:lnTo>
                    <a:pt x="53721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598551" y="3619500"/>
              <a:ext cx="902513" cy="4263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冗余性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00075" y="4051300"/>
              <a:ext cx="4149598" cy="103441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625"/>
                </a:lnSpc>
              </a:pPr>
              <a:r>
                <a:rPr lang="zh-CN" sz="18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两个测试方法相似度 &gt; 0.8 即判为重复</a:t>
              </a:r>
              <a:br>
                <a:rPr lang="zh-CN" sz="18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8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冗余率 = 涉及重复的方法数 ÷ 总方法数</a:t>
              </a:r>
              <a:br>
                <a:rPr lang="zh-CN" sz="18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8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方法级口径，不是断言级</a:t>
              </a:r>
            </a:p>
          </p:txBody>
        </p:sp>
      </p:grpSp>
      <p:grpSp>
        <p:nvGrpSpPr>
          <p:cNvPr id="26" name="metric-coverage"/>
          <p:cNvGrpSpPr/>
          <p:nvPr/>
        </p:nvGrpSpPr>
        <p:grpSpPr>
          <a:xfrm>
            <a:off x="6199251" y="3543300"/>
            <a:ext cx="5383149" cy="1542415"/>
            <a:chOff x="6199251" y="3543300"/>
            <a:chExt cx="5383149" cy="1542415"/>
          </a:xfrm>
        </p:grpSpPr>
        <p:sp>
          <p:nvSpPr>
            <p:cNvPr id="23" name="Line 23"/>
            <p:cNvSpPr/>
            <p:nvPr/>
          </p:nvSpPr>
          <p:spPr>
            <a:xfrm>
              <a:off x="6210300" y="3543300"/>
              <a:ext cx="5372100" cy="9525"/>
            </a:xfrm>
            <a:custGeom>
              <a:avLst/>
              <a:gdLst/>
              <a:ahLst/>
              <a:cxnLst/>
              <a:rect l="l" t="t" r="r" b="b"/>
              <a:pathLst>
                <a:path w="5372100" h="9525">
                  <a:moveTo>
                    <a:pt x="0" y="0"/>
                  </a:moveTo>
                  <a:lnTo>
                    <a:pt x="53721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199251" y="3619500"/>
              <a:ext cx="902513" cy="4263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覆盖率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200775" y="4051300"/>
              <a:ext cx="3504946" cy="103441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625"/>
                </a:lnSpc>
              </a:pPr>
              <a:r>
                <a:rPr lang="zh-CN" sz="18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JaCoCo 的行覆盖率与分支覆盖率</a:t>
              </a:r>
              <a:br>
                <a:rPr lang="zh-CN" sz="18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8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按案例取源码报告值</a:t>
              </a:r>
              <a:br>
                <a:rPr lang="zh-CN" sz="18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8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26 个案例取算术平均</a:t>
              </a:r>
            </a:p>
          </p:txBody>
        </p:sp>
      </p:grpSp>
      <p:grpSp>
        <p:nvGrpSpPr>
          <p:cNvPr id="31" name="outlet-band"/>
          <p:cNvGrpSpPr/>
          <p:nvPr/>
        </p:nvGrpSpPr>
        <p:grpSpPr>
          <a:xfrm>
            <a:off x="609600" y="5257800"/>
            <a:ext cx="10972800" cy="571500"/>
            <a:chOff x="609600" y="5257800"/>
            <a:chExt cx="10972800" cy="571500"/>
          </a:xfrm>
        </p:grpSpPr>
        <p:sp>
          <p:nvSpPr>
            <p:cNvPr id="27" name="Rectangle 27"/>
            <p:cNvSpPr/>
            <p:nvPr/>
          </p:nvSpPr>
          <p:spPr>
            <a:xfrm>
              <a:off x="609600" y="5257800"/>
              <a:ext cx="10972800" cy="5715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09600" y="5257800"/>
              <a:ext cx="38100" cy="57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828675" y="5372100"/>
              <a:ext cx="280299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所有数字只有一个出口：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3448050" y="5372100"/>
              <a:ext cx="8120416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以 JaCoCo 报告和源码统计脚本为准，不手工估计，各组不另存一份表。</a:t>
              </a:r>
            </a:p>
          </p:txBody>
        </p:sp>
      </p:grpSp>
      <p:grpSp>
        <p:nvGrpSpPr>
          <p:cNvPr id="33" name="foot-rule"/>
          <p:cNvGrpSpPr/>
          <p:nvPr/>
        </p:nvGrpSpPr>
        <p:grpSpPr>
          <a:xfrm>
            <a:off x="609600" y="6276975"/>
            <a:ext cx="10972800" cy="9525"/>
            <a:chOff x="609600" y="6276975"/>
            <a:chExt cx="10972800" cy="9525"/>
          </a:xfrm>
        </p:grpSpPr>
        <p:sp>
          <p:nvSpPr>
            <p:cNvPr id="32" name="Line 32"/>
            <p:cNvSpPr/>
            <p:nvPr/>
          </p:nvSpPr>
          <p:spPr>
            <a:xfrm>
              <a:off x="609600" y="6276975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lstStyle/>
            <a:p>
              <a:endParaRPr/>
            </a:p>
          </p:txBody>
        </p:sp>
      </p:grpSp>
      <p:grpSp>
        <p:nvGrpSpPr>
          <p:cNvPr id="35" name="foot-text"/>
          <p:cNvGrpSpPr/>
          <p:nvPr/>
        </p:nvGrpSpPr>
        <p:grpSpPr>
          <a:xfrm>
            <a:off x="603123" y="6438900"/>
            <a:ext cx="2769972" cy="250317"/>
            <a:chOff x="603123" y="6438900"/>
            <a:chExt cx="2769972" cy="250317"/>
          </a:xfrm>
        </p:grpSpPr>
        <p:sp>
          <p:nvSpPr>
            <p:cNvPr id="34" name="TextBox 34"/>
            <p:cNvSpPr txBox="1"/>
            <p:nvPr/>
          </p:nvSpPr>
          <p:spPr>
            <a:xfrm>
              <a:off x="603123" y="6438900"/>
              <a:ext cx="2769972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课题 2 · 单元测试框架与覆盖率分析</a:t>
              </a:r>
            </a:p>
          </p:txBody>
        </p:sp>
      </p:grpSp>
      <p:grpSp>
        <p:nvGrpSpPr>
          <p:cNvPr id="37" name="foot-pageno"/>
          <p:cNvGrpSpPr/>
          <p:nvPr/>
        </p:nvGrpSpPr>
        <p:grpSpPr>
          <a:xfrm>
            <a:off x="10912516" y="6438900"/>
            <a:ext cx="676361" cy="250317"/>
            <a:chOff x="10912516" y="6438900"/>
            <a:chExt cx="676361" cy="250317"/>
          </a:xfrm>
        </p:grpSpPr>
        <p:sp>
          <p:nvSpPr>
            <p:cNvPr id="36" name="TextBox 36"/>
            <p:cNvSpPr txBox="1"/>
            <p:nvPr/>
          </p:nvSpPr>
          <p:spPr>
            <a:xfrm>
              <a:off x="10912516" y="6438900"/>
              <a:ext cx="676361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80" dirty="0">
                  <a:solidFill>
                    <a:schemeClr val="accent5"/>
                  </a:solidFill>
                  <a:latin typeface="Consolas"/>
                  <a:ea typeface="Consolas"/>
                  <a:cs typeface="Consolas"/>
                </a:rPr>
                <a:t>08 / 13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masthead"/>
          <p:cNvGrpSpPr/>
          <p:nvPr/>
        </p:nvGrpSpPr>
        <p:grpSpPr>
          <a:xfrm>
            <a:off x="0" y="0"/>
            <a:ext cx="12192000" cy="57150"/>
            <a:chOff x="0" y="0"/>
            <a:chExt cx="12192000" cy="571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5715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79070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6" name="head-kicker"/>
          <p:cNvGrpSpPr/>
          <p:nvPr/>
        </p:nvGrpSpPr>
        <p:grpSpPr>
          <a:xfrm>
            <a:off x="601599" y="457200"/>
            <a:ext cx="461594" cy="308991"/>
            <a:chOff x="601599" y="457200"/>
            <a:chExt cx="461594" cy="308991"/>
          </a:xfrm>
        </p:grpSpPr>
        <p:sp>
          <p:nvSpPr>
            <p:cNvPr id="5" name="TextBox 5"/>
            <p:cNvSpPr txBox="1"/>
            <p:nvPr/>
          </p:nvSpPr>
          <p:spPr>
            <a:xfrm>
              <a:off x="601599" y="457200"/>
              <a:ext cx="461594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spc="150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结果</a:t>
              </a:r>
            </a:p>
          </p:txBody>
        </p:sp>
      </p:grpSp>
      <p:grpSp>
        <p:nvGrpSpPr>
          <p:cNvPr id="8" name="head-title"/>
          <p:cNvGrpSpPr/>
          <p:nvPr/>
        </p:nvGrpSpPr>
        <p:grpSpPr>
          <a:xfrm>
            <a:off x="590550" y="781050"/>
            <a:ext cx="5591175" cy="733425"/>
            <a:chOff x="590550" y="781050"/>
            <a:chExt cx="5591175" cy="733425"/>
          </a:xfrm>
        </p:grpSpPr>
        <p:sp>
          <p:nvSpPr>
            <p:cNvPr id="7" name="TextBox 7"/>
            <p:cNvSpPr txBox="1"/>
            <p:nvPr/>
          </p:nvSpPr>
          <p:spPr>
            <a:xfrm>
              <a:off x="590550" y="781050"/>
              <a:ext cx="5591175" cy="7334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7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结果一：规模与可编译性</a:t>
              </a:r>
            </a:p>
          </p:txBody>
        </p:sp>
      </p:grpSp>
      <p:grpSp>
        <p:nvGrpSpPr>
          <p:cNvPr id="10" name="head-rule"/>
          <p:cNvGrpSpPr/>
          <p:nvPr/>
        </p:nvGrpSpPr>
        <p:grpSpPr>
          <a:xfrm>
            <a:off x="609600" y="1600200"/>
            <a:ext cx="10972800" cy="9525"/>
            <a:chOff x="609600" y="1600200"/>
            <a:chExt cx="10972800" cy="9525"/>
          </a:xfrm>
        </p:grpSpPr>
        <p:sp>
          <p:nvSpPr>
            <p:cNvPr id="9" name="Line 9"/>
            <p:cNvSpPr/>
            <p:nvPr/>
          </p:nvSpPr>
          <p:spPr>
            <a:xfrm>
              <a:off x="609600" y="160020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12" name="figure-scale"/>
          <p:cNvGrpSpPr/>
          <p:nvPr/>
        </p:nvGrpSpPr>
        <p:grpSpPr>
          <a:xfrm>
            <a:off x="609600" y="1660327"/>
            <a:ext cx="4610100" cy="2737247"/>
            <a:chOff x="609600" y="1660327"/>
            <a:chExt cx="4610100" cy="2737247"/>
          </a:xfrm>
        </p:grpSpPr>
        <p:pic>
          <p:nvPicPr>
            <p:cNvPr id="11" name="Image 11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09600" y="1660327"/>
              <a:ext cx="4610100" cy="2737247"/>
            </a:xfrm>
            <a:prstGeom prst="rect">
              <a:avLst/>
            </a:prstGeom>
          </p:spPr>
        </p:pic>
      </p:grpSp>
      <p:grpSp>
        <p:nvGrpSpPr>
          <p:cNvPr id="14" name="figure-compile"/>
          <p:cNvGrpSpPr/>
          <p:nvPr/>
        </p:nvGrpSpPr>
        <p:grpSpPr>
          <a:xfrm>
            <a:off x="5448300" y="1660327"/>
            <a:ext cx="4610100" cy="2737247"/>
            <a:chOff x="5448300" y="1660327"/>
            <a:chExt cx="4610100" cy="2737247"/>
          </a:xfrm>
        </p:grpSpPr>
        <p:pic>
          <p:nvPicPr>
            <p:cNvPr id="13" name="Image 13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448300" y="1660327"/>
              <a:ext cx="4610100" cy="2737247"/>
            </a:xfrm>
            <a:prstGeom prst="rect">
              <a:avLst/>
            </a:prstGeom>
          </p:spPr>
        </p:pic>
      </p:grpSp>
      <p:grpSp>
        <p:nvGrpSpPr>
          <p:cNvPr id="47" name="result-table"/>
          <p:cNvGrpSpPr/>
          <p:nvPr/>
        </p:nvGrpSpPr>
        <p:grpSpPr>
          <a:xfrm>
            <a:off x="609600" y="4514850"/>
            <a:ext cx="10972800" cy="1258570"/>
            <a:chOff x="609600" y="4514850"/>
            <a:chExt cx="10972800" cy="1258570"/>
          </a:xfrm>
        </p:grpSpPr>
        <p:sp>
          <p:nvSpPr>
            <p:cNvPr id="15" name="Rectangle 15"/>
            <p:cNvSpPr/>
            <p:nvPr/>
          </p:nvSpPr>
          <p:spPr>
            <a:xfrm>
              <a:off x="609600" y="4514850"/>
              <a:ext cx="10972800" cy="28575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16661" y="4527550"/>
              <a:ext cx="39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来源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59738" y="4527550"/>
              <a:ext cx="135260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4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平均测试方法数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932809" y="4527550"/>
              <a:ext cx="97028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4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平均断言数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5057362" y="4527550"/>
              <a:ext cx="203647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4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断言密度（断言/方法）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8791219" y="4527550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4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可编译率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732520" y="5212080"/>
              <a:ext cx="932688" cy="274320"/>
            </a:xfrm>
            <a:prstGeom prst="rect">
              <a:avLst/>
            </a:prstGeom>
            <a:solidFill>
              <a:srgbClr val="FBEFE3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2" name="Line 22"/>
            <p:cNvSpPr/>
            <p:nvPr/>
          </p:nvSpPr>
          <p:spPr>
            <a:xfrm>
              <a:off x="609600" y="480060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3" name="Line 23"/>
            <p:cNvSpPr/>
            <p:nvPr/>
          </p:nvSpPr>
          <p:spPr>
            <a:xfrm>
              <a:off x="609600" y="502920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4" name="Line 24"/>
            <p:cNvSpPr/>
            <p:nvPr/>
          </p:nvSpPr>
          <p:spPr>
            <a:xfrm>
              <a:off x="609600" y="525780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5" name="Line 25"/>
            <p:cNvSpPr/>
            <p:nvPr/>
          </p:nvSpPr>
          <p:spPr>
            <a:xfrm>
              <a:off x="609600" y="548640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6" name="Line 26"/>
            <p:cNvSpPr/>
            <p:nvPr/>
          </p:nvSpPr>
          <p:spPr>
            <a:xfrm>
              <a:off x="609600" y="571500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16280" y="4794250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人工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2253234" y="4794250"/>
              <a:ext cx="45948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500" dirty="0">
                  <a:solidFill>
                    <a:schemeClr val="dk1"/>
                  </a:solidFill>
                  <a:latin typeface="Consolas"/>
                  <a:ea typeface="Consolas"/>
                  <a:cs typeface="Consolas"/>
                </a:rPr>
                <a:t>6.35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4332922" y="4794250"/>
              <a:ext cx="57054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500" dirty="0">
                  <a:solidFill>
                    <a:schemeClr val="dk1"/>
                  </a:solidFill>
                  <a:latin typeface="Consolas"/>
                  <a:ea typeface="Consolas"/>
                  <a:cs typeface="Consolas"/>
                </a:rPr>
                <a:t>11.19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634734" y="4794250"/>
              <a:ext cx="45948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500" dirty="0">
                  <a:solidFill>
                    <a:schemeClr val="dk1"/>
                  </a:solidFill>
                  <a:latin typeface="Consolas"/>
                  <a:ea typeface="Consolas"/>
                  <a:cs typeface="Consolas"/>
                </a:rPr>
                <a:t>1.76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9111234" y="4794250"/>
              <a:ext cx="45948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500" dirty="0">
                  <a:solidFill>
                    <a:schemeClr val="dk1"/>
                  </a:solidFill>
                  <a:latin typeface="Consolas"/>
                  <a:ea typeface="Consolas"/>
                  <a:cs typeface="Consolas"/>
                </a:rPr>
                <a:t>100%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716280" y="5022850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数据集自带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2142172" y="5022850"/>
              <a:ext cx="57054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500" dirty="0">
                  <a:solidFill>
                    <a:schemeClr val="dk1"/>
                  </a:solidFill>
                  <a:latin typeface="Consolas"/>
                  <a:ea typeface="Consolas"/>
                  <a:cs typeface="Consolas"/>
                </a:rPr>
                <a:t>10.65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4332922" y="5022850"/>
              <a:ext cx="57054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500" dirty="0">
                  <a:solidFill>
                    <a:schemeClr val="dk1"/>
                  </a:solidFill>
                  <a:latin typeface="Consolas"/>
                  <a:ea typeface="Consolas"/>
                  <a:cs typeface="Consolas"/>
                </a:rPr>
                <a:t>17.69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634734" y="5022850"/>
              <a:ext cx="45948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500" dirty="0">
                  <a:solidFill>
                    <a:schemeClr val="dk1"/>
                  </a:solidFill>
                  <a:latin typeface="Consolas"/>
                  <a:ea typeface="Consolas"/>
                  <a:cs typeface="Consolas"/>
                </a:rPr>
                <a:t>1.66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9111234" y="5022850"/>
              <a:ext cx="45948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500" dirty="0">
                  <a:solidFill>
                    <a:schemeClr val="dk1"/>
                  </a:solidFill>
                  <a:latin typeface="Consolas"/>
                  <a:ea typeface="Consolas"/>
                  <a:cs typeface="Consolas"/>
                </a:rPr>
                <a:t>100%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716280" y="5251450"/>
              <a:ext cx="60045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Kimi K3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2142172" y="5251450"/>
              <a:ext cx="57054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500" dirty="0">
                  <a:solidFill>
                    <a:schemeClr val="dk1"/>
                  </a:solidFill>
                  <a:latin typeface="Consolas"/>
                  <a:ea typeface="Consolas"/>
                  <a:cs typeface="Consolas"/>
                </a:rPr>
                <a:t>10.88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4332922" y="5251450"/>
              <a:ext cx="57054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500" dirty="0">
                  <a:solidFill>
                    <a:schemeClr val="dk1"/>
                  </a:solidFill>
                  <a:latin typeface="Consolas"/>
                  <a:ea typeface="Consolas"/>
                  <a:cs typeface="Consolas"/>
                </a:rPr>
                <a:t>11.38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6634734" y="5251450"/>
              <a:ext cx="45948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500" dirty="0">
                  <a:solidFill>
                    <a:schemeClr val="dk1"/>
                  </a:solidFill>
                  <a:latin typeface="Consolas"/>
                  <a:ea typeface="Consolas"/>
                  <a:cs typeface="Consolas"/>
                </a:rPr>
                <a:t>1.05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8889111" y="5251450"/>
              <a:ext cx="68160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500" b="1" dirty="0">
                  <a:solidFill>
                    <a:schemeClr val="accent1"/>
                  </a:solidFill>
                  <a:latin typeface="Consolas"/>
                  <a:ea typeface="Consolas"/>
                  <a:cs typeface="Consolas"/>
                </a:rPr>
                <a:t>92.31%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716280" y="5480050"/>
              <a:ext cx="60045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DeepSeek V4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2142172" y="5480050"/>
              <a:ext cx="57054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500" dirty="0">
                  <a:solidFill>
                    <a:schemeClr val="dk1"/>
                  </a:solidFill>
                  <a:latin typeface="Consolas"/>
                  <a:ea typeface="Consolas"/>
                  <a:cs typeface="Consolas"/>
                </a:rPr>
                <a:t>10.81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4332922" y="5480050"/>
              <a:ext cx="57054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500" dirty="0">
                  <a:solidFill>
                    <a:schemeClr val="dk1"/>
                  </a:solidFill>
                  <a:latin typeface="Consolas"/>
                  <a:ea typeface="Consolas"/>
                  <a:cs typeface="Consolas"/>
                </a:rPr>
                <a:t>11.38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6634734" y="5480050"/>
              <a:ext cx="45948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500" dirty="0">
                  <a:solidFill>
                    <a:schemeClr val="dk1"/>
                  </a:solidFill>
                  <a:latin typeface="Consolas"/>
                  <a:ea typeface="Consolas"/>
                  <a:cs typeface="Consolas"/>
                </a:rPr>
                <a:t>1.05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9111234" y="5480050"/>
              <a:ext cx="45948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500" dirty="0">
                  <a:solidFill>
                    <a:schemeClr val="dk1"/>
                  </a:solidFill>
                  <a:latin typeface="Consolas"/>
                  <a:ea typeface="Consolas"/>
                  <a:cs typeface="Consolas"/>
                </a:rPr>
                <a:t>100%</a:t>
              </a:r>
            </a:p>
          </p:txBody>
        </p:sp>
      </p:grpSp>
      <p:grpSp>
        <p:nvGrpSpPr>
          <p:cNvPr id="49" name="takeaway"/>
          <p:cNvGrpSpPr/>
          <p:nvPr/>
        </p:nvGrpSpPr>
        <p:grpSpPr>
          <a:xfrm>
            <a:off x="600075" y="5867400"/>
            <a:ext cx="9767275" cy="367665"/>
            <a:chOff x="600075" y="5867400"/>
            <a:chExt cx="9767275" cy="367665"/>
          </a:xfrm>
        </p:grpSpPr>
        <p:sp>
          <p:nvSpPr>
            <p:cNvPr id="48" name="TextBox 48"/>
            <p:cNvSpPr txBox="1"/>
            <p:nvPr/>
          </p:nvSpPr>
          <p:spPr>
            <a:xfrm>
              <a:off x="600075" y="5867400"/>
              <a:ext cx="9767275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模型组的测试方法数是人工的 1.7 倍，断言密度却只有人工的六成——方法多、断言稀。</a:t>
              </a:r>
            </a:p>
          </p:txBody>
        </p:sp>
      </p:grpSp>
      <p:grpSp>
        <p:nvGrpSpPr>
          <p:cNvPr id="51" name="foot-rule"/>
          <p:cNvGrpSpPr/>
          <p:nvPr/>
        </p:nvGrpSpPr>
        <p:grpSpPr>
          <a:xfrm>
            <a:off x="609600" y="6276975"/>
            <a:ext cx="10972800" cy="9525"/>
            <a:chOff x="609600" y="6276975"/>
            <a:chExt cx="10972800" cy="9525"/>
          </a:xfrm>
        </p:grpSpPr>
        <p:sp>
          <p:nvSpPr>
            <p:cNvPr id="50" name="Line 50"/>
            <p:cNvSpPr/>
            <p:nvPr/>
          </p:nvSpPr>
          <p:spPr>
            <a:xfrm>
              <a:off x="609600" y="6276975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53" name="foot-text"/>
          <p:cNvGrpSpPr/>
          <p:nvPr/>
        </p:nvGrpSpPr>
        <p:grpSpPr>
          <a:xfrm>
            <a:off x="603123" y="6438900"/>
            <a:ext cx="2769972" cy="250317"/>
            <a:chOff x="603123" y="6438900"/>
            <a:chExt cx="2769972" cy="250317"/>
          </a:xfrm>
        </p:grpSpPr>
        <p:sp>
          <p:nvSpPr>
            <p:cNvPr id="52" name="TextBox 52"/>
            <p:cNvSpPr txBox="1"/>
            <p:nvPr/>
          </p:nvSpPr>
          <p:spPr>
            <a:xfrm>
              <a:off x="603123" y="6438900"/>
              <a:ext cx="2769972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课题 2 · 单元测试框架与覆盖率分析</a:t>
              </a:r>
            </a:p>
          </p:txBody>
        </p:sp>
      </p:grpSp>
      <p:grpSp>
        <p:nvGrpSpPr>
          <p:cNvPr id="55" name="foot-pageno"/>
          <p:cNvGrpSpPr/>
          <p:nvPr/>
        </p:nvGrpSpPr>
        <p:grpSpPr>
          <a:xfrm>
            <a:off x="10912516" y="6438900"/>
            <a:ext cx="676361" cy="250317"/>
            <a:chOff x="10912516" y="6438900"/>
            <a:chExt cx="676361" cy="250317"/>
          </a:xfrm>
        </p:grpSpPr>
        <p:sp>
          <p:nvSpPr>
            <p:cNvPr id="54" name="TextBox 54"/>
            <p:cNvSpPr txBox="1"/>
            <p:nvPr/>
          </p:nvSpPr>
          <p:spPr>
            <a:xfrm>
              <a:off x="10912516" y="6438900"/>
              <a:ext cx="676361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80" dirty="0">
                  <a:solidFill>
                    <a:schemeClr val="accent5"/>
                  </a:solidFill>
                  <a:latin typeface="Consolas"/>
                  <a:ea typeface="Consolas"/>
                  <a:cs typeface="Consolas"/>
                </a:rPr>
                <a:t>09 / 13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masthead"/>
          <p:cNvGrpSpPr/>
          <p:nvPr/>
        </p:nvGrpSpPr>
        <p:grpSpPr>
          <a:xfrm>
            <a:off x="0" y="0"/>
            <a:ext cx="12192000" cy="57150"/>
            <a:chOff x="0" y="0"/>
            <a:chExt cx="12192000" cy="571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5715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79070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lstStyle/>
            <a:p>
              <a:endParaRPr/>
            </a:p>
          </p:txBody>
        </p:sp>
      </p:grpSp>
      <p:grpSp>
        <p:nvGrpSpPr>
          <p:cNvPr id="6" name="head-kicker"/>
          <p:cNvGrpSpPr/>
          <p:nvPr/>
        </p:nvGrpSpPr>
        <p:grpSpPr>
          <a:xfrm>
            <a:off x="601599" y="457200"/>
            <a:ext cx="461594" cy="308991"/>
            <a:chOff x="601599" y="457200"/>
            <a:chExt cx="461594" cy="308991"/>
          </a:xfrm>
        </p:grpSpPr>
        <p:sp>
          <p:nvSpPr>
            <p:cNvPr id="5" name="TextBox 5"/>
            <p:cNvSpPr txBox="1"/>
            <p:nvPr/>
          </p:nvSpPr>
          <p:spPr>
            <a:xfrm>
              <a:off x="601599" y="457200"/>
              <a:ext cx="461594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spc="150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结果</a:t>
              </a:r>
            </a:p>
          </p:txBody>
        </p:sp>
      </p:grpSp>
      <p:grpSp>
        <p:nvGrpSpPr>
          <p:cNvPr id="8" name="head-title"/>
          <p:cNvGrpSpPr/>
          <p:nvPr/>
        </p:nvGrpSpPr>
        <p:grpSpPr>
          <a:xfrm>
            <a:off x="590550" y="781050"/>
            <a:ext cx="3571875" cy="733425"/>
            <a:chOff x="590550" y="781050"/>
            <a:chExt cx="3571875" cy="733425"/>
          </a:xfrm>
        </p:grpSpPr>
        <p:sp>
          <p:nvSpPr>
            <p:cNvPr id="7" name="TextBox 7"/>
            <p:cNvSpPr txBox="1"/>
            <p:nvPr/>
          </p:nvSpPr>
          <p:spPr>
            <a:xfrm>
              <a:off x="590550" y="781050"/>
              <a:ext cx="3571875" cy="7334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7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结果二：覆盖率</a:t>
              </a:r>
            </a:p>
          </p:txBody>
        </p:sp>
      </p:grpSp>
      <p:grpSp>
        <p:nvGrpSpPr>
          <p:cNvPr id="10" name="head-rule"/>
          <p:cNvGrpSpPr/>
          <p:nvPr/>
        </p:nvGrpSpPr>
        <p:grpSpPr>
          <a:xfrm>
            <a:off x="609600" y="1600200"/>
            <a:ext cx="10972800" cy="9525"/>
            <a:chOff x="609600" y="1600200"/>
            <a:chExt cx="10972800" cy="9525"/>
          </a:xfrm>
        </p:grpSpPr>
        <p:sp>
          <p:nvSpPr>
            <p:cNvPr id="9" name="Line 9"/>
            <p:cNvSpPr/>
            <p:nvPr/>
          </p:nvSpPr>
          <p:spPr>
            <a:xfrm>
              <a:off x="609600" y="160020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  <p:txBody>
            <a:bodyPr/>
            <a:lstStyle/>
            <a:p>
              <a:endParaRPr/>
            </a:p>
          </p:txBody>
        </p:sp>
      </p:grpSp>
      <p:grpSp>
        <p:nvGrpSpPr>
          <p:cNvPr id="12" name="figure-coverage"/>
          <p:cNvGrpSpPr/>
          <p:nvPr/>
        </p:nvGrpSpPr>
        <p:grpSpPr>
          <a:xfrm>
            <a:off x="609600" y="1678781"/>
            <a:ext cx="4724400" cy="2805112"/>
            <a:chOff x="609600" y="1678781"/>
            <a:chExt cx="4724400" cy="2805112"/>
          </a:xfrm>
        </p:grpSpPr>
        <p:pic>
          <p:nvPicPr>
            <p:cNvPr id="11" name="Image 11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09600" y="1678781"/>
              <a:ext cx="4724400" cy="2805112"/>
            </a:xfrm>
            <a:prstGeom prst="rect">
              <a:avLst/>
            </a:prstGeom>
          </p:spPr>
        </p:pic>
      </p:grpSp>
      <p:grpSp>
        <p:nvGrpSpPr>
          <p:cNvPr id="35" name="coverage-table"/>
          <p:cNvGrpSpPr/>
          <p:nvPr/>
        </p:nvGrpSpPr>
        <p:grpSpPr>
          <a:xfrm>
            <a:off x="5638800" y="1676400"/>
            <a:ext cx="5943600" cy="2105025"/>
            <a:chOff x="5638800" y="1676400"/>
            <a:chExt cx="5943600" cy="2105025"/>
          </a:xfrm>
        </p:grpSpPr>
        <p:sp>
          <p:nvSpPr>
            <p:cNvPr id="13" name="Rectangle 13"/>
            <p:cNvSpPr/>
            <p:nvPr/>
          </p:nvSpPr>
          <p:spPr>
            <a:xfrm>
              <a:off x="5638800" y="1676400"/>
              <a:ext cx="5943600" cy="4191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5745861" y="1774825"/>
              <a:ext cx="39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来源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095769" y="1774825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4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行覆盖率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8714359" y="1774825"/>
              <a:ext cx="97028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4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分支覆盖率</a:t>
              </a:r>
            </a:p>
          </p:txBody>
        </p:sp>
        <p:sp>
          <p:nvSpPr>
            <p:cNvPr id="18" name="Line 18"/>
            <p:cNvSpPr/>
            <p:nvPr/>
          </p:nvSpPr>
          <p:spPr>
            <a:xfrm>
              <a:off x="5638800" y="2095500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" name="Line 19"/>
            <p:cNvSpPr/>
            <p:nvPr/>
          </p:nvSpPr>
          <p:spPr>
            <a:xfrm>
              <a:off x="5638800" y="2514600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" name="Line 20"/>
            <p:cNvSpPr/>
            <p:nvPr/>
          </p:nvSpPr>
          <p:spPr>
            <a:xfrm>
              <a:off x="5638800" y="2933700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" name="Line 21"/>
            <p:cNvSpPr/>
            <p:nvPr/>
          </p:nvSpPr>
          <p:spPr>
            <a:xfrm>
              <a:off x="5638800" y="3352800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" name="Line 22"/>
            <p:cNvSpPr/>
            <p:nvPr/>
          </p:nvSpPr>
          <p:spPr>
            <a:xfrm>
              <a:off x="5638800" y="3771900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5745099" y="2181225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人工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157740" y="2181225"/>
              <a:ext cx="71791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580" dirty="0">
                  <a:solidFill>
                    <a:schemeClr val="dk1"/>
                  </a:solidFill>
                  <a:latin typeface="Consolas"/>
                  <a:ea typeface="Consolas"/>
                  <a:cs typeface="Consolas"/>
                </a:rPr>
                <a:t>95.28%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8967490" y="2181225"/>
              <a:ext cx="71791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580" dirty="0">
                  <a:solidFill>
                    <a:schemeClr val="dk1"/>
                  </a:solidFill>
                  <a:latin typeface="Consolas"/>
                  <a:ea typeface="Consolas"/>
                  <a:cs typeface="Consolas"/>
                </a:rPr>
                <a:t>94.00%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745099" y="2600325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数据集自带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157740" y="2600325"/>
              <a:ext cx="71791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580" dirty="0">
                  <a:solidFill>
                    <a:schemeClr val="dk1"/>
                  </a:solidFill>
                  <a:latin typeface="Consolas"/>
                  <a:ea typeface="Consolas"/>
                  <a:cs typeface="Consolas"/>
                </a:rPr>
                <a:t>94.56%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8967490" y="2600325"/>
              <a:ext cx="71791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580" dirty="0">
                  <a:solidFill>
                    <a:schemeClr val="dk1"/>
                  </a:solidFill>
                  <a:latin typeface="Consolas"/>
                  <a:ea typeface="Consolas"/>
                  <a:cs typeface="Consolas"/>
                </a:rPr>
                <a:t>93.87%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5745099" y="3019425"/>
              <a:ext cx="63243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Kimi K3</a:t>
              </a:r>
            </a:p>
          </p:txBody>
        </p:sp>
        <p:sp>
          <p:nvSpPr>
            <p:cNvPr id="48" name="Rectangle 47"/>
            <p:cNvSpPr/>
            <p:nvPr/>
          </p:nvSpPr>
          <p:spPr>
            <a:xfrm>
              <a:off x="7002292" y="3001137"/>
              <a:ext cx="1028807" cy="274320"/>
            </a:xfrm>
            <a:prstGeom prst="rect">
              <a:avLst/>
            </a:prstGeom>
            <a:solidFill>
              <a:srgbClr val="FBEFE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7157740" y="3019425"/>
              <a:ext cx="71791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580" b="1" dirty="0">
                  <a:solidFill>
                    <a:schemeClr val="accent1"/>
                  </a:solidFill>
                  <a:latin typeface="Consolas"/>
                  <a:ea typeface="Consolas"/>
                  <a:cs typeface="Consolas"/>
                </a:rPr>
                <a:t>98.15%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8967490" y="3019425"/>
              <a:ext cx="71791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580" b="1" dirty="0">
                  <a:solidFill>
                    <a:schemeClr val="accent1"/>
                  </a:solidFill>
                  <a:latin typeface="Consolas"/>
                  <a:ea typeface="Consolas"/>
                  <a:cs typeface="Consolas"/>
                </a:rPr>
                <a:t>97.75%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5745099" y="3438525"/>
              <a:ext cx="63243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DeepSeek V4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7157740" y="3438525"/>
              <a:ext cx="71791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580" dirty="0">
                  <a:solidFill>
                    <a:schemeClr val="dk1"/>
                  </a:solidFill>
                  <a:latin typeface="Consolas"/>
                  <a:ea typeface="Consolas"/>
                  <a:cs typeface="Consolas"/>
                </a:rPr>
                <a:t>97.32%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8967490" y="3438525"/>
              <a:ext cx="71791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580" dirty="0">
                  <a:solidFill>
                    <a:schemeClr val="dk1"/>
                  </a:solidFill>
                  <a:latin typeface="Consolas"/>
                  <a:ea typeface="Consolas"/>
                  <a:cs typeface="Consolas"/>
                </a:rPr>
                <a:t>97.22%</a:t>
              </a:r>
            </a:p>
          </p:txBody>
        </p:sp>
      </p:grpSp>
      <p:grpSp>
        <p:nvGrpSpPr>
          <p:cNvPr id="37" name="reading"/>
          <p:cNvGrpSpPr/>
          <p:nvPr/>
        </p:nvGrpSpPr>
        <p:grpSpPr>
          <a:xfrm>
            <a:off x="600075" y="4565650"/>
            <a:ext cx="5988050" cy="701040"/>
            <a:chOff x="600075" y="4565650"/>
            <a:chExt cx="5988050" cy="701040"/>
          </a:xfrm>
        </p:grpSpPr>
        <p:sp>
          <p:nvSpPr>
            <p:cNvPr id="36" name="TextBox 36"/>
            <p:cNvSpPr txBox="1"/>
            <p:nvPr/>
          </p:nvSpPr>
          <p:spPr>
            <a:xfrm>
              <a:off x="600075" y="4565650"/>
              <a:ext cx="5988050" cy="7010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625"/>
                </a:lnSpc>
              </a:pPr>
              <a:r>
                <a:rPr lang="zh-CN" sz="18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四组全部在 94% 以上，组间最大差距不到 4 个百分点。</a:t>
              </a:r>
              <a:br>
                <a:rPr lang="zh-CN" sz="18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8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在结构清晰的算法类上，覆盖率对「谁写的」并不敏感。</a:t>
              </a:r>
            </a:p>
          </p:txBody>
        </p:sp>
      </p:grpSp>
      <p:grpSp>
        <p:nvGrpSpPr>
          <p:cNvPr id="41" name="case-band"/>
          <p:cNvGrpSpPr/>
          <p:nvPr/>
        </p:nvGrpSpPr>
        <p:grpSpPr>
          <a:xfrm>
            <a:off x="609600" y="5410200"/>
            <a:ext cx="10972800" cy="898218"/>
            <a:chOff x="609600" y="5410200"/>
            <a:chExt cx="10972800" cy="898218"/>
          </a:xfrm>
        </p:grpSpPr>
        <p:sp>
          <p:nvSpPr>
            <p:cNvPr id="38" name="Rectangle 38"/>
            <p:cNvSpPr/>
            <p:nvPr/>
          </p:nvSpPr>
          <p:spPr>
            <a:xfrm>
              <a:off x="609600" y="5410200"/>
              <a:ext cx="10972800" cy="6858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" name="Rectangle 39"/>
            <p:cNvSpPr/>
            <p:nvPr/>
          </p:nvSpPr>
          <p:spPr>
            <a:xfrm>
              <a:off x="609600" y="541020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829437" y="5480050"/>
              <a:ext cx="10058844" cy="82836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60"/>
                </a:lnSpc>
              </a:pPr>
              <a:r>
                <a:rPr lang="zh-CN" sz="172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单案差异远大于组间差异：PrimeCheck 人工与自带都只有 25.8%，两个模型都是 64.5%——同一个类</a:t>
              </a:r>
              <a:endParaRPr lang="en-US" altLang="zh-CN" sz="1720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  <a:p>
              <a:pPr algn="l">
                <a:lnSpc>
                  <a:spcPts val="2160"/>
                </a:lnSpc>
              </a:pPr>
              <a:r>
                <a:rPr lang="zh-CN" sz="172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换个人写就是天壤之别（该类有两个公开方法：人工与自带只测了 isPrime，模型两个都测）</a:t>
              </a:r>
              <a:br>
                <a:rPr lang="zh-CN" sz="172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</a:br>
              <a:endParaRPr lang="zh-CN" sz="1720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43" name="foot-rule"/>
          <p:cNvGrpSpPr/>
          <p:nvPr/>
        </p:nvGrpSpPr>
        <p:grpSpPr>
          <a:xfrm>
            <a:off x="609600" y="6276975"/>
            <a:ext cx="10972800" cy="9525"/>
            <a:chOff x="609600" y="6276975"/>
            <a:chExt cx="10972800" cy="9525"/>
          </a:xfrm>
        </p:grpSpPr>
        <p:sp>
          <p:nvSpPr>
            <p:cNvPr id="42" name="Line 42"/>
            <p:cNvSpPr/>
            <p:nvPr/>
          </p:nvSpPr>
          <p:spPr>
            <a:xfrm>
              <a:off x="609600" y="6276975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lstStyle/>
            <a:p>
              <a:endParaRPr/>
            </a:p>
          </p:txBody>
        </p:sp>
      </p:grpSp>
      <p:grpSp>
        <p:nvGrpSpPr>
          <p:cNvPr id="45" name="foot-text"/>
          <p:cNvGrpSpPr/>
          <p:nvPr/>
        </p:nvGrpSpPr>
        <p:grpSpPr>
          <a:xfrm>
            <a:off x="603123" y="6438900"/>
            <a:ext cx="2769972" cy="250317"/>
            <a:chOff x="603123" y="6438900"/>
            <a:chExt cx="2769972" cy="250317"/>
          </a:xfrm>
        </p:grpSpPr>
        <p:sp>
          <p:nvSpPr>
            <p:cNvPr id="44" name="TextBox 44"/>
            <p:cNvSpPr txBox="1"/>
            <p:nvPr/>
          </p:nvSpPr>
          <p:spPr>
            <a:xfrm>
              <a:off x="603123" y="6438900"/>
              <a:ext cx="2769972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课题 2 · 单元测试框架与覆盖率分析</a:t>
              </a:r>
            </a:p>
          </p:txBody>
        </p:sp>
      </p:grpSp>
      <p:grpSp>
        <p:nvGrpSpPr>
          <p:cNvPr id="47" name="foot-pageno"/>
          <p:cNvGrpSpPr/>
          <p:nvPr/>
        </p:nvGrpSpPr>
        <p:grpSpPr>
          <a:xfrm>
            <a:off x="10912516" y="6438900"/>
            <a:ext cx="676361" cy="250317"/>
            <a:chOff x="10912516" y="6438900"/>
            <a:chExt cx="676361" cy="250317"/>
          </a:xfrm>
        </p:grpSpPr>
        <p:sp>
          <p:nvSpPr>
            <p:cNvPr id="46" name="TextBox 46"/>
            <p:cNvSpPr txBox="1"/>
            <p:nvPr/>
          </p:nvSpPr>
          <p:spPr>
            <a:xfrm>
              <a:off x="10912516" y="6438900"/>
              <a:ext cx="676361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80" dirty="0">
                  <a:solidFill>
                    <a:schemeClr val="accent5"/>
                  </a:solidFill>
                  <a:latin typeface="Consolas"/>
                  <a:ea typeface="Consolas"/>
                  <a:cs typeface="Consolas"/>
                </a:rPr>
                <a:t>10 / 13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masthead"/>
          <p:cNvGrpSpPr/>
          <p:nvPr/>
        </p:nvGrpSpPr>
        <p:grpSpPr>
          <a:xfrm>
            <a:off x="0" y="0"/>
            <a:ext cx="12192000" cy="57150"/>
            <a:chOff x="0" y="0"/>
            <a:chExt cx="12192000" cy="571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5715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79070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6" name="head-kicker"/>
          <p:cNvGrpSpPr/>
          <p:nvPr/>
        </p:nvGrpSpPr>
        <p:grpSpPr>
          <a:xfrm>
            <a:off x="601599" y="457200"/>
            <a:ext cx="461594" cy="308991"/>
            <a:chOff x="601599" y="457200"/>
            <a:chExt cx="461594" cy="308991"/>
          </a:xfrm>
        </p:grpSpPr>
        <p:sp>
          <p:nvSpPr>
            <p:cNvPr id="5" name="TextBox 5"/>
            <p:cNvSpPr txBox="1"/>
            <p:nvPr/>
          </p:nvSpPr>
          <p:spPr>
            <a:xfrm>
              <a:off x="601599" y="457200"/>
              <a:ext cx="461594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spc="150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结果</a:t>
              </a:r>
            </a:p>
          </p:txBody>
        </p:sp>
      </p:grpSp>
      <p:grpSp>
        <p:nvGrpSpPr>
          <p:cNvPr id="8" name="head-title"/>
          <p:cNvGrpSpPr/>
          <p:nvPr/>
        </p:nvGrpSpPr>
        <p:grpSpPr>
          <a:xfrm>
            <a:off x="590550" y="781050"/>
            <a:ext cx="3571875" cy="733425"/>
            <a:chOff x="590550" y="781050"/>
            <a:chExt cx="3571875" cy="733425"/>
          </a:xfrm>
        </p:grpSpPr>
        <p:sp>
          <p:nvSpPr>
            <p:cNvPr id="7" name="TextBox 7"/>
            <p:cNvSpPr txBox="1"/>
            <p:nvPr/>
          </p:nvSpPr>
          <p:spPr>
            <a:xfrm>
              <a:off x="590550" y="781050"/>
              <a:ext cx="3571875" cy="7334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7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结果三：冗余性</a:t>
              </a:r>
            </a:p>
          </p:txBody>
        </p:sp>
      </p:grpSp>
      <p:grpSp>
        <p:nvGrpSpPr>
          <p:cNvPr id="10" name="head-rule"/>
          <p:cNvGrpSpPr/>
          <p:nvPr/>
        </p:nvGrpSpPr>
        <p:grpSpPr>
          <a:xfrm>
            <a:off x="609600" y="1600200"/>
            <a:ext cx="10972800" cy="9525"/>
            <a:chOff x="609600" y="1600200"/>
            <a:chExt cx="10972800" cy="9525"/>
          </a:xfrm>
        </p:grpSpPr>
        <p:sp>
          <p:nvSpPr>
            <p:cNvPr id="9" name="Line 9"/>
            <p:cNvSpPr/>
            <p:nvPr/>
          </p:nvSpPr>
          <p:spPr>
            <a:xfrm>
              <a:off x="609600" y="160020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12" name="figure-redundancy"/>
          <p:cNvGrpSpPr/>
          <p:nvPr/>
        </p:nvGrpSpPr>
        <p:grpSpPr>
          <a:xfrm>
            <a:off x="609600" y="1678781"/>
            <a:ext cx="4724400" cy="2805112"/>
            <a:chOff x="609600" y="1678781"/>
            <a:chExt cx="4724400" cy="2805112"/>
          </a:xfrm>
        </p:grpSpPr>
        <p:pic>
          <p:nvPicPr>
            <p:cNvPr id="11" name="Image 11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09600" y="1678781"/>
              <a:ext cx="4724400" cy="2805112"/>
            </a:xfrm>
            <a:prstGeom prst="rect">
              <a:avLst/>
            </a:prstGeom>
          </p:spPr>
        </p:pic>
      </p:grpSp>
      <p:grpSp>
        <p:nvGrpSpPr>
          <p:cNvPr id="30" name="redundancy-table"/>
          <p:cNvGrpSpPr/>
          <p:nvPr/>
        </p:nvGrpSpPr>
        <p:grpSpPr>
          <a:xfrm>
            <a:off x="5638800" y="1676400"/>
            <a:ext cx="5943600" cy="2105025"/>
            <a:chOff x="5638800" y="1676400"/>
            <a:chExt cx="5943600" cy="2105025"/>
          </a:xfrm>
        </p:grpSpPr>
        <p:sp>
          <p:nvSpPr>
            <p:cNvPr id="13" name="Rectangle 13"/>
            <p:cNvSpPr/>
            <p:nvPr/>
          </p:nvSpPr>
          <p:spPr>
            <a:xfrm>
              <a:off x="5638800" y="1676400"/>
              <a:ext cx="5943600" cy="4191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5745861" y="1774825"/>
              <a:ext cx="39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来源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0505059" y="1774825"/>
              <a:ext cx="97028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4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平均冗余率</a:t>
              </a:r>
            </a:p>
          </p:txBody>
        </p:sp>
        <p:sp>
          <p:nvSpPr>
            <p:cNvPr id="17" name="Line 17"/>
            <p:cNvSpPr/>
            <p:nvPr/>
          </p:nvSpPr>
          <p:spPr>
            <a:xfrm>
              <a:off x="5638800" y="2095500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8" name="Line 18"/>
            <p:cNvSpPr/>
            <p:nvPr/>
          </p:nvSpPr>
          <p:spPr>
            <a:xfrm>
              <a:off x="5638800" y="2514600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9" name="Line 19"/>
            <p:cNvSpPr/>
            <p:nvPr/>
          </p:nvSpPr>
          <p:spPr>
            <a:xfrm>
              <a:off x="5638800" y="2933700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0" name="Line 20"/>
            <p:cNvSpPr/>
            <p:nvPr/>
          </p:nvSpPr>
          <p:spPr>
            <a:xfrm>
              <a:off x="5638800" y="3352800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1" name="Line 21"/>
            <p:cNvSpPr/>
            <p:nvPr/>
          </p:nvSpPr>
          <p:spPr>
            <a:xfrm>
              <a:off x="5638800" y="3771900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5745099" y="2181225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人工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0758190" y="2181225"/>
              <a:ext cx="71791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580" dirty="0">
                  <a:solidFill>
                    <a:schemeClr val="dk1"/>
                  </a:solidFill>
                  <a:latin typeface="Consolas"/>
                  <a:ea typeface="Consolas"/>
                  <a:cs typeface="Consolas"/>
                </a:rPr>
                <a:t>38.52%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5745099" y="2600325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数据集自带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0758190" y="2600325"/>
              <a:ext cx="71791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580" dirty="0">
                  <a:solidFill>
                    <a:schemeClr val="dk1"/>
                  </a:solidFill>
                  <a:latin typeface="Consolas"/>
                  <a:ea typeface="Consolas"/>
                  <a:cs typeface="Consolas"/>
                </a:rPr>
                <a:t>57.03%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745099" y="3019425"/>
              <a:ext cx="63243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Kimi K3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10758190" y="3019425"/>
              <a:ext cx="71791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580" dirty="0">
                  <a:solidFill>
                    <a:schemeClr val="dk1"/>
                  </a:solidFill>
                  <a:latin typeface="Consolas"/>
                  <a:ea typeface="Consolas"/>
                  <a:cs typeface="Consolas"/>
                </a:rPr>
                <a:t>70.20%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5745099" y="3438525"/>
              <a:ext cx="63243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DeepSeek V4</a:t>
              </a:r>
            </a:p>
          </p:txBody>
        </p:sp>
        <p:sp>
          <p:nvSpPr>
            <p:cNvPr id="44" name="Rectangle 43"/>
            <p:cNvSpPr/>
            <p:nvPr/>
          </p:nvSpPr>
          <p:spPr>
            <a:xfrm>
              <a:off x="10602742" y="3420237"/>
              <a:ext cx="1028807" cy="274320"/>
            </a:xfrm>
            <a:prstGeom prst="rect">
              <a:avLst/>
            </a:prstGeom>
            <a:solidFill>
              <a:srgbClr val="FBEFE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10758190" y="3438525"/>
              <a:ext cx="71791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580" b="1" dirty="0">
                  <a:solidFill>
                    <a:schemeClr val="accent1"/>
                  </a:solidFill>
                  <a:latin typeface="Consolas"/>
                  <a:ea typeface="Consolas"/>
                  <a:cs typeface="Consolas"/>
                </a:rPr>
                <a:t>79.60%</a:t>
              </a:r>
            </a:p>
          </p:txBody>
        </p:sp>
      </p:grpSp>
      <p:grpSp>
        <p:nvGrpSpPr>
          <p:cNvPr id="32" name="reading"/>
          <p:cNvGrpSpPr/>
          <p:nvPr/>
        </p:nvGrpSpPr>
        <p:grpSpPr>
          <a:xfrm>
            <a:off x="600075" y="4508500"/>
            <a:ext cx="6226810" cy="701040"/>
            <a:chOff x="600075" y="4508500"/>
            <a:chExt cx="6226810" cy="701040"/>
          </a:xfrm>
        </p:grpSpPr>
        <p:sp>
          <p:nvSpPr>
            <p:cNvPr id="31" name="TextBox 31"/>
            <p:cNvSpPr txBox="1"/>
            <p:nvPr/>
          </p:nvSpPr>
          <p:spPr>
            <a:xfrm>
              <a:off x="600075" y="4508500"/>
              <a:ext cx="6226810" cy="7010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625"/>
                </a:lnSpc>
              </a:pPr>
              <a:r>
                <a:rPr lang="zh-CN" sz="18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这是四组差距最大的一项指标，最高与最低相差一倍以上。</a:t>
              </a:r>
              <a:br>
                <a:rPr lang="zh-CN" sz="18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8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DeepSeek V4 有近八成方法在「换个输入再写一遍」。</a:t>
              </a:r>
            </a:p>
          </p:txBody>
        </p:sp>
      </p:grpSp>
      <p:grpSp>
        <p:nvGrpSpPr>
          <p:cNvPr id="37" name="practical-band"/>
          <p:cNvGrpSpPr/>
          <p:nvPr/>
        </p:nvGrpSpPr>
        <p:grpSpPr>
          <a:xfrm>
            <a:off x="609600" y="5391150"/>
            <a:ext cx="10972800" cy="533400"/>
            <a:chOff x="609600" y="5391150"/>
            <a:chExt cx="10972800" cy="533400"/>
          </a:xfrm>
        </p:grpSpPr>
        <p:sp>
          <p:nvSpPr>
            <p:cNvPr id="33" name="Rectangle 33"/>
            <p:cNvSpPr/>
            <p:nvPr/>
          </p:nvSpPr>
          <p:spPr>
            <a:xfrm>
              <a:off x="609600" y="5391150"/>
              <a:ext cx="10972800" cy="5334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09600" y="5391150"/>
              <a:ext cx="38100" cy="533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828675" y="5486400"/>
              <a:ext cx="1284478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实用结论：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2019300" y="5486400"/>
              <a:ext cx="8143098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想省时间用大模型打底、人工补边界——两边是互补关系，不是替代关系。</a:t>
              </a:r>
            </a:p>
          </p:txBody>
        </p:sp>
      </p:grpSp>
      <p:grpSp>
        <p:nvGrpSpPr>
          <p:cNvPr id="39" name="foot-rule"/>
          <p:cNvGrpSpPr/>
          <p:nvPr/>
        </p:nvGrpSpPr>
        <p:grpSpPr>
          <a:xfrm>
            <a:off x="609600" y="6276975"/>
            <a:ext cx="10972800" cy="9525"/>
            <a:chOff x="609600" y="6276975"/>
            <a:chExt cx="10972800" cy="9525"/>
          </a:xfrm>
        </p:grpSpPr>
        <p:sp>
          <p:nvSpPr>
            <p:cNvPr id="38" name="Line 38"/>
            <p:cNvSpPr/>
            <p:nvPr/>
          </p:nvSpPr>
          <p:spPr>
            <a:xfrm>
              <a:off x="609600" y="6276975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41" name="foot-text"/>
          <p:cNvGrpSpPr/>
          <p:nvPr/>
        </p:nvGrpSpPr>
        <p:grpSpPr>
          <a:xfrm>
            <a:off x="603123" y="6438900"/>
            <a:ext cx="2769972" cy="250317"/>
            <a:chOff x="603123" y="6438900"/>
            <a:chExt cx="2769972" cy="250317"/>
          </a:xfrm>
        </p:grpSpPr>
        <p:sp>
          <p:nvSpPr>
            <p:cNvPr id="40" name="TextBox 40"/>
            <p:cNvSpPr txBox="1"/>
            <p:nvPr/>
          </p:nvSpPr>
          <p:spPr>
            <a:xfrm>
              <a:off x="603123" y="6438900"/>
              <a:ext cx="2769972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课题 2 · 单元测试框架与覆盖率分析</a:t>
              </a:r>
            </a:p>
          </p:txBody>
        </p:sp>
      </p:grpSp>
      <p:grpSp>
        <p:nvGrpSpPr>
          <p:cNvPr id="43" name="foot-pageno"/>
          <p:cNvGrpSpPr/>
          <p:nvPr/>
        </p:nvGrpSpPr>
        <p:grpSpPr>
          <a:xfrm>
            <a:off x="10912516" y="6438900"/>
            <a:ext cx="676361" cy="250317"/>
            <a:chOff x="10912516" y="6438900"/>
            <a:chExt cx="676361" cy="250317"/>
          </a:xfrm>
        </p:grpSpPr>
        <p:sp>
          <p:nvSpPr>
            <p:cNvPr id="42" name="TextBox 42"/>
            <p:cNvSpPr txBox="1"/>
            <p:nvPr/>
          </p:nvSpPr>
          <p:spPr>
            <a:xfrm>
              <a:off x="10912516" y="6438900"/>
              <a:ext cx="676361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80" dirty="0">
                  <a:solidFill>
                    <a:schemeClr val="accent5"/>
                  </a:solidFill>
                  <a:latin typeface="Consolas"/>
                  <a:ea typeface="Consolas"/>
                  <a:cs typeface="Consolas"/>
                </a:rPr>
                <a:t>11 / 13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masthead"/>
          <p:cNvGrpSpPr/>
          <p:nvPr/>
        </p:nvGrpSpPr>
        <p:grpSpPr>
          <a:xfrm>
            <a:off x="0" y="0"/>
            <a:ext cx="12192000" cy="57150"/>
            <a:chOff x="0" y="0"/>
            <a:chExt cx="12192000" cy="571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5715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79070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lstStyle/>
            <a:p>
              <a:endParaRPr/>
            </a:p>
          </p:txBody>
        </p:sp>
      </p:grpSp>
      <p:grpSp>
        <p:nvGrpSpPr>
          <p:cNvPr id="6" name="head-kicker"/>
          <p:cNvGrpSpPr/>
          <p:nvPr/>
        </p:nvGrpSpPr>
        <p:grpSpPr>
          <a:xfrm>
            <a:off x="601599" y="457200"/>
            <a:ext cx="461594" cy="308991"/>
            <a:chOff x="601599" y="457200"/>
            <a:chExt cx="461594" cy="308991"/>
          </a:xfrm>
        </p:grpSpPr>
        <p:sp>
          <p:nvSpPr>
            <p:cNvPr id="5" name="TextBox 5"/>
            <p:cNvSpPr txBox="1"/>
            <p:nvPr/>
          </p:nvSpPr>
          <p:spPr>
            <a:xfrm>
              <a:off x="601599" y="457200"/>
              <a:ext cx="461594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spc="150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总结</a:t>
              </a:r>
            </a:p>
          </p:txBody>
        </p:sp>
      </p:grpSp>
      <p:grpSp>
        <p:nvGrpSpPr>
          <p:cNvPr id="8" name="head-title"/>
          <p:cNvGrpSpPr/>
          <p:nvPr/>
        </p:nvGrpSpPr>
        <p:grpSpPr>
          <a:xfrm>
            <a:off x="590550" y="781050"/>
            <a:ext cx="2562225" cy="733425"/>
            <a:chOff x="590550" y="781050"/>
            <a:chExt cx="2562225" cy="733425"/>
          </a:xfrm>
        </p:grpSpPr>
        <p:sp>
          <p:nvSpPr>
            <p:cNvPr id="7" name="TextBox 7"/>
            <p:cNvSpPr txBox="1"/>
            <p:nvPr/>
          </p:nvSpPr>
          <p:spPr>
            <a:xfrm>
              <a:off x="590550" y="781050"/>
              <a:ext cx="2562225" cy="7334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7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结论与不足</a:t>
              </a:r>
            </a:p>
          </p:txBody>
        </p:sp>
      </p:grpSp>
      <p:grpSp>
        <p:nvGrpSpPr>
          <p:cNvPr id="10" name="head-rule"/>
          <p:cNvGrpSpPr/>
          <p:nvPr/>
        </p:nvGrpSpPr>
        <p:grpSpPr>
          <a:xfrm>
            <a:off x="609600" y="1600200"/>
            <a:ext cx="10972800" cy="9525"/>
            <a:chOff x="609600" y="1600200"/>
            <a:chExt cx="10972800" cy="9525"/>
          </a:xfrm>
        </p:grpSpPr>
        <p:sp>
          <p:nvSpPr>
            <p:cNvPr id="9" name="Line 9"/>
            <p:cNvSpPr/>
            <p:nvPr/>
          </p:nvSpPr>
          <p:spPr>
            <a:xfrm>
              <a:off x="609600" y="160020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  <p:txBody>
            <a:bodyPr/>
            <a:lstStyle/>
            <a:p>
              <a:endParaRPr/>
            </a:p>
          </p:txBody>
        </p:sp>
      </p:grpSp>
      <p:grpSp>
        <p:nvGrpSpPr>
          <p:cNvPr id="15" name="point-01"/>
          <p:cNvGrpSpPr/>
          <p:nvPr/>
        </p:nvGrpSpPr>
        <p:grpSpPr>
          <a:xfrm>
            <a:off x="590550" y="1708150"/>
            <a:ext cx="9312148" cy="916940"/>
            <a:chOff x="590550" y="1708150"/>
            <a:chExt cx="9312148" cy="916940"/>
          </a:xfrm>
        </p:grpSpPr>
        <p:sp>
          <p:nvSpPr>
            <p:cNvPr id="11" name="TextBox 11"/>
            <p:cNvSpPr txBox="1"/>
            <p:nvPr/>
          </p:nvSpPr>
          <p:spPr>
            <a:xfrm>
              <a:off x="590550" y="1708150"/>
              <a:ext cx="593408" cy="7334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750" b="1" dirty="0">
                  <a:solidFill>
                    <a:schemeClr val="accent2"/>
                  </a:solidFill>
                  <a:latin typeface="Consolas"/>
                  <a:ea typeface="Consolas"/>
                  <a:cs typeface="Consolas"/>
                </a:rPr>
                <a:t>01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133475" y="1924050"/>
              <a:ext cx="2549906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　覆盖率不区分质量：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514725" y="1924050"/>
              <a:ext cx="6387973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四组行覆盖率都在 94% 以上，Kimi K3 最高（98.15%），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133475" y="2257425"/>
              <a:ext cx="6270264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同时冗余率也高（70.20%）、断言密度最低（1.05）。</a:t>
              </a:r>
            </a:p>
          </p:txBody>
        </p:sp>
      </p:grpSp>
      <p:grpSp>
        <p:nvGrpSpPr>
          <p:cNvPr id="20" name="point-02"/>
          <p:cNvGrpSpPr/>
          <p:nvPr/>
        </p:nvGrpSpPr>
        <p:grpSpPr>
          <a:xfrm>
            <a:off x="590550" y="2527300"/>
            <a:ext cx="8147563" cy="916940"/>
            <a:chOff x="590550" y="2527300"/>
            <a:chExt cx="8147563" cy="916940"/>
          </a:xfrm>
        </p:grpSpPr>
        <p:sp>
          <p:nvSpPr>
            <p:cNvPr id="16" name="TextBox 16"/>
            <p:cNvSpPr txBox="1"/>
            <p:nvPr/>
          </p:nvSpPr>
          <p:spPr>
            <a:xfrm>
              <a:off x="590550" y="2527300"/>
              <a:ext cx="593408" cy="7334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750" b="1" dirty="0">
                  <a:solidFill>
                    <a:schemeClr val="accent2"/>
                  </a:solidFill>
                  <a:latin typeface="Consolas"/>
                  <a:ea typeface="Consolas"/>
                  <a:cs typeface="Consolas"/>
                </a:rPr>
                <a:t>02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133475" y="2743200"/>
              <a:ext cx="3562248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　大模型的产出是「广撒网」：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467225" y="2743200"/>
              <a:ext cx="4270888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平均 10.8 个方法、每题只断言一次；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133475" y="3076575"/>
              <a:ext cx="3815334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能编过，但写得多不等于测得细。</a:t>
              </a:r>
            </a:p>
          </p:txBody>
        </p:sp>
      </p:grpSp>
      <p:grpSp>
        <p:nvGrpSpPr>
          <p:cNvPr id="24" name="point-03"/>
          <p:cNvGrpSpPr/>
          <p:nvPr/>
        </p:nvGrpSpPr>
        <p:grpSpPr>
          <a:xfrm>
            <a:off x="590550" y="3346450"/>
            <a:ext cx="10115895" cy="733425"/>
            <a:chOff x="590550" y="3346450"/>
            <a:chExt cx="10115895" cy="733425"/>
          </a:xfrm>
        </p:grpSpPr>
        <p:sp>
          <p:nvSpPr>
            <p:cNvPr id="21" name="TextBox 21"/>
            <p:cNvSpPr txBox="1"/>
            <p:nvPr/>
          </p:nvSpPr>
          <p:spPr>
            <a:xfrm>
              <a:off x="590550" y="3346450"/>
              <a:ext cx="593408" cy="7334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750" b="1" dirty="0">
                  <a:solidFill>
                    <a:schemeClr val="accent2"/>
                  </a:solidFill>
                  <a:latin typeface="Consolas"/>
                  <a:ea typeface="Consolas"/>
                  <a:cs typeface="Consolas"/>
                </a:rPr>
                <a:t>03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133475" y="3562350"/>
              <a:ext cx="280299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　人工的价值在针对性：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3752850" y="3562350"/>
              <a:ext cx="6953595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方法少（6.35）、冗余低（38.52%），平均 22 分钟一个案例</a:t>
              </a:r>
            </a:p>
          </p:txBody>
        </p:sp>
      </p:grpSp>
      <p:grpSp>
        <p:nvGrpSpPr>
          <p:cNvPr id="28" name="blind-spot"/>
          <p:cNvGrpSpPr/>
          <p:nvPr/>
        </p:nvGrpSpPr>
        <p:grpSpPr>
          <a:xfrm>
            <a:off x="609600" y="4133850"/>
            <a:ext cx="10972800" cy="670941"/>
            <a:chOff x="609600" y="4133850"/>
            <a:chExt cx="10972800" cy="670941"/>
          </a:xfrm>
        </p:grpSpPr>
        <p:sp>
          <p:nvSpPr>
            <p:cNvPr id="25" name="Rectangle 25"/>
            <p:cNvSpPr/>
            <p:nvPr/>
          </p:nvSpPr>
          <p:spPr>
            <a:xfrm>
              <a:off x="609600" y="4133850"/>
              <a:ext cx="10972800" cy="66675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30199" y="4210050"/>
              <a:ext cx="4269994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盲测中发现的真实缺陷（上游测试没覆盖到）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830199" y="4495800"/>
              <a:ext cx="9326482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CountWords：只含空格时返回 1 而不是 0　｜　PermutationCipher：解密会无条件吃掉末尾的 X</a:t>
              </a:r>
            </a:p>
          </p:txBody>
        </p:sp>
      </p:grpSp>
      <p:grpSp>
        <p:nvGrpSpPr>
          <p:cNvPr id="30" name="gap-label"/>
          <p:cNvGrpSpPr/>
          <p:nvPr/>
        </p:nvGrpSpPr>
        <p:grpSpPr>
          <a:xfrm>
            <a:off x="601599" y="5010150"/>
            <a:ext cx="605935" cy="243143"/>
            <a:chOff x="601599" y="5010150"/>
            <a:chExt cx="605935" cy="243143"/>
          </a:xfrm>
        </p:grpSpPr>
        <p:sp>
          <p:nvSpPr>
            <p:cNvPr id="29" name="TextBox 29"/>
            <p:cNvSpPr txBox="1"/>
            <p:nvPr/>
          </p:nvSpPr>
          <p:spPr>
            <a:xfrm>
              <a:off x="601599" y="5010150"/>
              <a:ext cx="605935" cy="2431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不足</a:t>
              </a:r>
              <a:r>
                <a:rPr lang="zh-CN" altLang="en-US" sz="1580" b="1" dirty="0">
                  <a:solidFill>
                    <a:schemeClr val="accent5"/>
                  </a:solidFill>
                </a:rPr>
                <a:t>：</a:t>
              </a:r>
              <a:endParaRPr lang="zh-CN" sz="1580" b="1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32" name="gap-list"/>
          <p:cNvGrpSpPr/>
          <p:nvPr/>
        </p:nvGrpSpPr>
        <p:grpSpPr>
          <a:xfrm>
            <a:off x="602361" y="5334000"/>
            <a:ext cx="10055638" cy="748666"/>
            <a:chOff x="602361" y="5334000"/>
            <a:chExt cx="10055638" cy="748666"/>
          </a:xfrm>
        </p:grpSpPr>
        <p:sp>
          <p:nvSpPr>
            <p:cNvPr id="31" name="TextBox 31"/>
            <p:cNvSpPr txBox="1"/>
            <p:nvPr/>
          </p:nvSpPr>
          <p:spPr>
            <a:xfrm>
              <a:off x="602361" y="5334000"/>
              <a:ext cx="10055638" cy="7486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10"/>
                </a:lnSpc>
              </a:pPr>
              <a:r>
                <a:rPr lang="zh-CN" sz="14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① 样本仍偏小：26 个案例、四组成绩取算术平均，极端案例对均值影响大；Kimi K3 有 2 例超时，对比落在 24 个共同案例上</a:t>
              </a:r>
              <a:br>
                <a:rPr dirty="0"/>
              </a:br>
              <a:r>
                <a:rPr lang="zh-CN" sz="14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② 两款模型档位不同（pro / economy），差异中含档位因素；调用走免费额度有限流，稳定性不代表付费 API</a:t>
              </a:r>
              <a:br>
                <a:rPr dirty="0"/>
              </a:br>
              <a:r>
                <a:rPr lang="zh-CN" sz="14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③ 数据污染无法排除：TheAlgorithms/Java 是公开仓库，两款模型可能训练时见过这些类，甚至见过仓库自带的那份测试</a:t>
              </a:r>
            </a:p>
          </p:txBody>
        </p:sp>
      </p:grpSp>
      <p:grpSp>
        <p:nvGrpSpPr>
          <p:cNvPr id="34" name="foot-rule"/>
          <p:cNvGrpSpPr/>
          <p:nvPr/>
        </p:nvGrpSpPr>
        <p:grpSpPr>
          <a:xfrm>
            <a:off x="609600" y="6276975"/>
            <a:ext cx="10972800" cy="9525"/>
            <a:chOff x="609600" y="6276975"/>
            <a:chExt cx="10972800" cy="9525"/>
          </a:xfrm>
        </p:grpSpPr>
        <p:sp>
          <p:nvSpPr>
            <p:cNvPr id="33" name="Line 33"/>
            <p:cNvSpPr/>
            <p:nvPr/>
          </p:nvSpPr>
          <p:spPr>
            <a:xfrm>
              <a:off x="609600" y="6276975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lstStyle/>
            <a:p>
              <a:endParaRPr/>
            </a:p>
          </p:txBody>
        </p:sp>
      </p:grpSp>
      <p:grpSp>
        <p:nvGrpSpPr>
          <p:cNvPr id="36" name="foot-text"/>
          <p:cNvGrpSpPr/>
          <p:nvPr/>
        </p:nvGrpSpPr>
        <p:grpSpPr>
          <a:xfrm>
            <a:off x="603123" y="6438900"/>
            <a:ext cx="2769972" cy="250317"/>
            <a:chOff x="603123" y="6438900"/>
            <a:chExt cx="2769972" cy="250317"/>
          </a:xfrm>
        </p:grpSpPr>
        <p:sp>
          <p:nvSpPr>
            <p:cNvPr id="35" name="TextBox 35"/>
            <p:cNvSpPr txBox="1"/>
            <p:nvPr/>
          </p:nvSpPr>
          <p:spPr>
            <a:xfrm>
              <a:off x="603123" y="6438900"/>
              <a:ext cx="2769972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课题 2 · 单元测试框架与覆盖率分析</a:t>
              </a:r>
            </a:p>
          </p:txBody>
        </p:sp>
      </p:grpSp>
      <p:grpSp>
        <p:nvGrpSpPr>
          <p:cNvPr id="38" name="foot-pageno"/>
          <p:cNvGrpSpPr/>
          <p:nvPr/>
        </p:nvGrpSpPr>
        <p:grpSpPr>
          <a:xfrm>
            <a:off x="10912516" y="6438900"/>
            <a:ext cx="676361" cy="250317"/>
            <a:chOff x="10912516" y="6438900"/>
            <a:chExt cx="676361" cy="250317"/>
          </a:xfrm>
        </p:grpSpPr>
        <p:sp>
          <p:nvSpPr>
            <p:cNvPr id="37" name="TextBox 37"/>
            <p:cNvSpPr txBox="1"/>
            <p:nvPr/>
          </p:nvSpPr>
          <p:spPr>
            <a:xfrm>
              <a:off x="10912516" y="6438900"/>
              <a:ext cx="676361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80" dirty="0">
                  <a:solidFill>
                    <a:schemeClr val="accent5"/>
                  </a:solidFill>
                  <a:latin typeface="Consolas"/>
                  <a:ea typeface="Consolas"/>
                  <a:cs typeface="Consolas"/>
                </a:rPr>
                <a:t>12 / 13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masthead"/>
          <p:cNvGrpSpPr/>
          <p:nvPr/>
        </p:nvGrpSpPr>
        <p:grpSpPr>
          <a:xfrm>
            <a:off x="0" y="0"/>
            <a:ext cx="12192000" cy="57150"/>
            <a:chOff x="0" y="0"/>
            <a:chExt cx="12192000" cy="571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5715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79070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6" name="head-kicker"/>
          <p:cNvGrpSpPr/>
          <p:nvPr/>
        </p:nvGrpSpPr>
        <p:grpSpPr>
          <a:xfrm>
            <a:off x="601599" y="457200"/>
            <a:ext cx="461594" cy="308991"/>
            <a:chOff x="601599" y="457200"/>
            <a:chExt cx="461594" cy="308991"/>
          </a:xfrm>
        </p:grpSpPr>
        <p:sp>
          <p:nvSpPr>
            <p:cNvPr id="5" name="TextBox 5"/>
            <p:cNvSpPr txBox="1"/>
            <p:nvPr/>
          </p:nvSpPr>
          <p:spPr>
            <a:xfrm>
              <a:off x="601599" y="457200"/>
              <a:ext cx="461594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spc="150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收尾</a:t>
              </a:r>
            </a:p>
          </p:txBody>
        </p:sp>
      </p:grpSp>
      <p:grpSp>
        <p:nvGrpSpPr>
          <p:cNvPr id="8" name="head-title"/>
          <p:cNvGrpSpPr/>
          <p:nvPr/>
        </p:nvGrpSpPr>
        <p:grpSpPr>
          <a:xfrm>
            <a:off x="590550" y="781050"/>
            <a:ext cx="2562225" cy="733425"/>
            <a:chOff x="590550" y="781050"/>
            <a:chExt cx="2562225" cy="733425"/>
          </a:xfrm>
        </p:grpSpPr>
        <p:sp>
          <p:nvSpPr>
            <p:cNvPr id="7" name="TextBox 7"/>
            <p:cNvSpPr txBox="1"/>
            <p:nvPr/>
          </p:nvSpPr>
          <p:spPr>
            <a:xfrm>
              <a:off x="590550" y="781050"/>
              <a:ext cx="2562225" cy="7334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7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分工与答辩</a:t>
              </a:r>
            </a:p>
          </p:txBody>
        </p:sp>
      </p:grpSp>
      <p:grpSp>
        <p:nvGrpSpPr>
          <p:cNvPr id="10" name="head-rule"/>
          <p:cNvGrpSpPr/>
          <p:nvPr/>
        </p:nvGrpSpPr>
        <p:grpSpPr>
          <a:xfrm>
            <a:off x="609600" y="1600200"/>
            <a:ext cx="10972800" cy="9525"/>
            <a:chOff x="609600" y="1600200"/>
            <a:chExt cx="10972800" cy="9525"/>
          </a:xfrm>
        </p:grpSpPr>
        <p:sp>
          <p:nvSpPr>
            <p:cNvPr id="9" name="Line 9"/>
            <p:cNvSpPr/>
            <p:nvPr/>
          </p:nvSpPr>
          <p:spPr>
            <a:xfrm>
              <a:off x="609600" y="160020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52" name="team-table"/>
          <p:cNvGrpSpPr/>
          <p:nvPr/>
        </p:nvGrpSpPr>
        <p:grpSpPr>
          <a:xfrm>
            <a:off x="609600" y="1714500"/>
            <a:ext cx="6858000" cy="2652141"/>
            <a:chOff x="609600" y="1714500"/>
            <a:chExt cx="6858000" cy="2652141"/>
          </a:xfrm>
        </p:grpSpPr>
        <p:sp>
          <p:nvSpPr>
            <p:cNvPr id="11" name="Rectangle 11"/>
            <p:cNvSpPr/>
            <p:nvPr/>
          </p:nvSpPr>
          <p:spPr>
            <a:xfrm>
              <a:off x="609600" y="1714500"/>
              <a:ext cx="6858000" cy="32385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935076" y="1765300"/>
              <a:ext cx="39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组员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2173326" y="1765300"/>
              <a:ext cx="39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姓名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5078451" y="1765300"/>
              <a:ext cx="39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负责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609600" y="2038350"/>
              <a:ext cx="6858000" cy="28575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09600" y="2609850"/>
              <a:ext cx="6858000" cy="28575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7" name="Rectangle 17"/>
            <p:cNvSpPr/>
            <p:nvPr/>
          </p:nvSpPr>
          <p:spPr>
            <a:xfrm>
              <a:off x="609600" y="3181350"/>
              <a:ext cx="6858000" cy="28575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8" name="Rectangle 18"/>
            <p:cNvSpPr/>
            <p:nvPr/>
          </p:nvSpPr>
          <p:spPr>
            <a:xfrm>
              <a:off x="609600" y="3752850"/>
              <a:ext cx="6858000" cy="28575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9" name="Line 19"/>
            <p:cNvSpPr/>
            <p:nvPr/>
          </p:nvSpPr>
          <p:spPr>
            <a:xfrm>
              <a:off x="609600" y="2038350"/>
              <a:ext cx="6858000" cy="9525"/>
            </a:xfrm>
            <a:custGeom>
              <a:avLst/>
              <a:gdLst/>
              <a:ahLst/>
              <a:cxnLst/>
              <a:rect l="l" t="t" r="r" b="b"/>
              <a:pathLst>
                <a:path w="6858000" h="9525">
                  <a:moveTo>
                    <a:pt x="0" y="0"/>
                  </a:moveTo>
                  <a:lnTo>
                    <a:pt x="6858000" y="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0" name="Line 20"/>
            <p:cNvSpPr/>
            <p:nvPr/>
          </p:nvSpPr>
          <p:spPr>
            <a:xfrm>
              <a:off x="609600" y="2324100"/>
              <a:ext cx="6858000" cy="9525"/>
            </a:xfrm>
            <a:custGeom>
              <a:avLst/>
              <a:gdLst/>
              <a:ahLst/>
              <a:cxnLst/>
              <a:rect l="l" t="t" r="r" b="b"/>
              <a:pathLst>
                <a:path w="6858000" h="9525">
                  <a:moveTo>
                    <a:pt x="0" y="0"/>
                  </a:moveTo>
                  <a:lnTo>
                    <a:pt x="685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1" name="Line 21"/>
            <p:cNvSpPr/>
            <p:nvPr/>
          </p:nvSpPr>
          <p:spPr>
            <a:xfrm>
              <a:off x="609600" y="2609850"/>
              <a:ext cx="6858000" cy="9525"/>
            </a:xfrm>
            <a:custGeom>
              <a:avLst/>
              <a:gdLst/>
              <a:ahLst/>
              <a:cxnLst/>
              <a:rect l="l" t="t" r="r" b="b"/>
              <a:pathLst>
                <a:path w="6858000" h="9525">
                  <a:moveTo>
                    <a:pt x="0" y="0"/>
                  </a:moveTo>
                  <a:lnTo>
                    <a:pt x="685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2" name="Line 22"/>
            <p:cNvSpPr/>
            <p:nvPr/>
          </p:nvSpPr>
          <p:spPr>
            <a:xfrm>
              <a:off x="609600" y="2895600"/>
              <a:ext cx="6858000" cy="9525"/>
            </a:xfrm>
            <a:custGeom>
              <a:avLst/>
              <a:gdLst/>
              <a:ahLst/>
              <a:cxnLst/>
              <a:rect l="l" t="t" r="r" b="b"/>
              <a:pathLst>
                <a:path w="6858000" h="9525">
                  <a:moveTo>
                    <a:pt x="0" y="0"/>
                  </a:moveTo>
                  <a:lnTo>
                    <a:pt x="685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3" name="Line 23"/>
            <p:cNvSpPr/>
            <p:nvPr/>
          </p:nvSpPr>
          <p:spPr>
            <a:xfrm>
              <a:off x="609600" y="3181350"/>
              <a:ext cx="6858000" cy="9525"/>
            </a:xfrm>
            <a:custGeom>
              <a:avLst/>
              <a:gdLst/>
              <a:ahLst/>
              <a:cxnLst/>
              <a:rect l="l" t="t" r="r" b="b"/>
              <a:pathLst>
                <a:path w="6858000" h="9525">
                  <a:moveTo>
                    <a:pt x="0" y="0"/>
                  </a:moveTo>
                  <a:lnTo>
                    <a:pt x="685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4" name="Line 24"/>
            <p:cNvSpPr/>
            <p:nvPr/>
          </p:nvSpPr>
          <p:spPr>
            <a:xfrm>
              <a:off x="609600" y="3467100"/>
              <a:ext cx="6858000" cy="9525"/>
            </a:xfrm>
            <a:custGeom>
              <a:avLst/>
              <a:gdLst/>
              <a:ahLst/>
              <a:cxnLst/>
              <a:rect l="l" t="t" r="r" b="b"/>
              <a:pathLst>
                <a:path w="6858000" h="9525">
                  <a:moveTo>
                    <a:pt x="0" y="0"/>
                  </a:moveTo>
                  <a:lnTo>
                    <a:pt x="685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5" name="Line 25"/>
            <p:cNvSpPr/>
            <p:nvPr/>
          </p:nvSpPr>
          <p:spPr>
            <a:xfrm>
              <a:off x="609600" y="3752850"/>
              <a:ext cx="6858000" cy="9525"/>
            </a:xfrm>
            <a:custGeom>
              <a:avLst/>
              <a:gdLst/>
              <a:ahLst/>
              <a:cxnLst/>
              <a:rect l="l" t="t" r="r" b="b"/>
              <a:pathLst>
                <a:path w="6858000" h="9525">
                  <a:moveTo>
                    <a:pt x="0" y="0"/>
                  </a:moveTo>
                  <a:lnTo>
                    <a:pt x="685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6" name="Line 26"/>
            <p:cNvSpPr/>
            <p:nvPr/>
          </p:nvSpPr>
          <p:spPr>
            <a:xfrm>
              <a:off x="609600" y="4038600"/>
              <a:ext cx="6858000" cy="9525"/>
            </a:xfrm>
            <a:custGeom>
              <a:avLst/>
              <a:gdLst/>
              <a:ahLst/>
              <a:cxnLst/>
              <a:rect l="l" t="t" r="r" b="b"/>
              <a:pathLst>
                <a:path w="6858000" h="9525">
                  <a:moveTo>
                    <a:pt x="0" y="0"/>
                  </a:moveTo>
                  <a:lnTo>
                    <a:pt x="685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7" name="Line 27"/>
            <p:cNvSpPr/>
            <p:nvPr/>
          </p:nvSpPr>
          <p:spPr>
            <a:xfrm>
              <a:off x="609600" y="4324350"/>
              <a:ext cx="6858000" cy="9525"/>
            </a:xfrm>
            <a:custGeom>
              <a:avLst/>
              <a:gdLst/>
              <a:ahLst/>
              <a:cxnLst/>
              <a:rect l="l" t="t" r="r" b="b"/>
              <a:pathLst>
                <a:path w="6858000" h="9525">
                  <a:moveTo>
                    <a:pt x="0" y="0"/>
                  </a:moveTo>
                  <a:lnTo>
                    <a:pt x="685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912774" y="2057400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组长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2044675" y="2057400"/>
              <a:ext cx="6541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章紫浩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3661026" y="2057400"/>
              <a:ext cx="3231654" cy="2431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排期、验收、统稿、</a:t>
              </a:r>
              <a:r>
                <a:rPr lang="zh-CN" altLang="en-US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漏洞核查与修复</a:t>
              </a:r>
              <a:endParaRPr lang="zh-CN" sz="158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1064057" y="2343150"/>
              <a:ext cx="138836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2151024" y="2343150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李炀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4279796" y="2343150"/>
              <a:ext cx="199410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环境搭建 + pom 配置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1064057" y="2628900"/>
              <a:ext cx="138836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2044675" y="2628900"/>
              <a:ext cx="6541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李一粟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4311701" y="2628900"/>
              <a:ext cx="19302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四组数据采集与统计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1064057" y="2914650"/>
              <a:ext cx="138836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2044675" y="2914650"/>
              <a:ext cx="6541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贾玲玲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3976699" y="2914650"/>
              <a:ext cx="2600302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案例筛选 + 数据集测试整理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1064057" y="3200400"/>
              <a:ext cx="138836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2044675" y="3200400"/>
              <a:ext cx="6541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吕曹骏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4008604" y="3200400"/>
              <a:ext cx="2536492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人工测试 13 个 + 耗时记录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1064057" y="3486150"/>
              <a:ext cx="138836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2044675" y="3486150"/>
              <a:ext cx="6541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姚圣宇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4008604" y="3486150"/>
              <a:ext cx="2536492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人工测试 13 个 + 耗时记录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1064057" y="3771900"/>
              <a:ext cx="138836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2044675" y="3771900"/>
              <a:ext cx="6541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林书涵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3705858" y="3771900"/>
              <a:ext cx="3141984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大模型测试 52 个 + Prompt 记录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1064057" y="4057650"/>
              <a:ext cx="138836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2044675" y="4057650"/>
              <a:ext cx="6541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李嘉程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4528815" y="4057650"/>
              <a:ext cx="149607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工具调研 + PPT</a:t>
              </a:r>
            </a:p>
          </p:txBody>
        </p:sp>
      </p:grpSp>
      <p:grpSp>
        <p:nvGrpSpPr>
          <p:cNvPr id="65" name="cost-block"/>
          <p:cNvGrpSpPr/>
          <p:nvPr/>
        </p:nvGrpSpPr>
        <p:grpSpPr>
          <a:xfrm>
            <a:off x="7764399" y="1714500"/>
            <a:ext cx="2643240" cy="2496693"/>
            <a:chOff x="7764399" y="1714500"/>
            <a:chExt cx="2643240" cy="2496693"/>
          </a:xfrm>
        </p:grpSpPr>
        <p:sp>
          <p:nvSpPr>
            <p:cNvPr id="53" name="TextBox 53"/>
            <p:cNvSpPr txBox="1"/>
            <p:nvPr/>
          </p:nvSpPr>
          <p:spPr>
            <a:xfrm>
              <a:off x="7764399" y="1809750"/>
              <a:ext cx="191817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人工组（A 组）成本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8074152" y="2076450"/>
              <a:ext cx="410752" cy="48501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26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8445436" y="2190750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个测试文件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7902702" y="2488882"/>
              <a:ext cx="603554" cy="48501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165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8457819" y="2603182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个测试方法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7902702" y="2901315"/>
              <a:ext cx="603554" cy="48501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291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8505444" y="3015615"/>
              <a:ext cx="6541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条断言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7902702" y="3313748"/>
              <a:ext cx="603554" cy="48501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582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8457819" y="3428048"/>
              <a:ext cx="1770774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分钟，约 9.7 小时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8074152" y="3726180"/>
              <a:ext cx="410752" cy="48501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22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8445436" y="3840480"/>
              <a:ext cx="1962203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分钟 / 案例（平均）</a:t>
              </a:r>
            </a:p>
          </p:txBody>
        </p:sp>
        <p:sp>
          <p:nvSpPr>
            <p:cNvPr id="64" name="Line 64"/>
            <p:cNvSpPr/>
            <p:nvPr/>
          </p:nvSpPr>
          <p:spPr>
            <a:xfrm>
              <a:off x="7772400" y="1714500"/>
              <a:ext cx="9525" cy="2381250"/>
            </a:xfrm>
            <a:custGeom>
              <a:avLst/>
              <a:gdLst/>
              <a:ahLst/>
              <a:cxnLst/>
              <a:rect l="l" t="t" r="r" b="b"/>
              <a:pathLst>
                <a:path w="9525" h="2381250">
                  <a:moveTo>
                    <a:pt x="0" y="0"/>
                  </a:moveTo>
                  <a:lnTo>
                    <a:pt x="0" y="238125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76" name="closing-band"/>
          <p:cNvGrpSpPr/>
          <p:nvPr/>
        </p:nvGrpSpPr>
        <p:grpSpPr>
          <a:xfrm>
            <a:off x="616077" y="4967807"/>
            <a:ext cx="10972800" cy="533400"/>
            <a:chOff x="609600" y="5562600"/>
            <a:chExt cx="10972800" cy="533400"/>
          </a:xfrm>
        </p:grpSpPr>
        <p:sp>
          <p:nvSpPr>
            <p:cNvPr id="72" name="Rectangle 72"/>
            <p:cNvSpPr/>
            <p:nvPr/>
          </p:nvSpPr>
          <p:spPr>
            <a:xfrm>
              <a:off x="609600" y="5562600"/>
              <a:ext cx="10972800" cy="5334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73" name="Rectangle 73"/>
            <p:cNvSpPr/>
            <p:nvPr/>
          </p:nvSpPr>
          <p:spPr>
            <a:xfrm>
              <a:off x="609600" y="5562600"/>
              <a:ext cx="38100" cy="533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74" name="TextBox 74"/>
            <p:cNvSpPr txBox="1"/>
            <p:nvPr/>
          </p:nvSpPr>
          <p:spPr>
            <a:xfrm>
              <a:off x="828675" y="5657850"/>
              <a:ext cx="65" cy="289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endParaRPr lang="zh-CN" sz="188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75" name="TextBox 75"/>
            <p:cNvSpPr txBox="1"/>
            <p:nvPr/>
          </p:nvSpPr>
          <p:spPr>
            <a:xfrm>
              <a:off x="828675" y="5690616"/>
              <a:ext cx="4568558" cy="289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模型负责量，人负责质，工具负责量化</a:t>
              </a:r>
              <a:r>
                <a:rPr lang="zh-CN" altLang="en-US" sz="1880" dirty="0">
                  <a:solidFill>
                    <a:schemeClr val="accent1"/>
                  </a:solidFill>
                </a:rPr>
                <a:t>表现</a:t>
              </a:r>
              <a:endParaRPr lang="zh-CN" sz="1880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78" name="foot-rule"/>
          <p:cNvGrpSpPr/>
          <p:nvPr/>
        </p:nvGrpSpPr>
        <p:grpSpPr>
          <a:xfrm>
            <a:off x="609600" y="6276975"/>
            <a:ext cx="10972800" cy="9525"/>
            <a:chOff x="609600" y="6276975"/>
            <a:chExt cx="10972800" cy="9525"/>
          </a:xfrm>
        </p:grpSpPr>
        <p:sp>
          <p:nvSpPr>
            <p:cNvPr id="77" name="Line 77"/>
            <p:cNvSpPr/>
            <p:nvPr/>
          </p:nvSpPr>
          <p:spPr>
            <a:xfrm>
              <a:off x="609600" y="6276975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80" name="foot-text"/>
          <p:cNvGrpSpPr/>
          <p:nvPr/>
        </p:nvGrpSpPr>
        <p:grpSpPr>
          <a:xfrm>
            <a:off x="603123" y="6438900"/>
            <a:ext cx="2769972" cy="250317"/>
            <a:chOff x="603123" y="6438900"/>
            <a:chExt cx="2769972" cy="250317"/>
          </a:xfrm>
        </p:grpSpPr>
        <p:sp>
          <p:nvSpPr>
            <p:cNvPr id="79" name="TextBox 79"/>
            <p:cNvSpPr txBox="1"/>
            <p:nvPr/>
          </p:nvSpPr>
          <p:spPr>
            <a:xfrm>
              <a:off x="603123" y="6438900"/>
              <a:ext cx="2769972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课题 2 · 单元测试框架与覆盖率分析</a:t>
              </a:r>
            </a:p>
          </p:txBody>
        </p:sp>
      </p:grpSp>
      <p:grpSp>
        <p:nvGrpSpPr>
          <p:cNvPr id="82" name="foot-pageno"/>
          <p:cNvGrpSpPr/>
          <p:nvPr/>
        </p:nvGrpSpPr>
        <p:grpSpPr>
          <a:xfrm>
            <a:off x="10912516" y="6438900"/>
            <a:ext cx="676361" cy="250317"/>
            <a:chOff x="10912516" y="6438900"/>
            <a:chExt cx="676361" cy="250317"/>
          </a:xfrm>
        </p:grpSpPr>
        <p:sp>
          <p:nvSpPr>
            <p:cNvPr id="81" name="TextBox 81"/>
            <p:cNvSpPr txBox="1"/>
            <p:nvPr/>
          </p:nvSpPr>
          <p:spPr>
            <a:xfrm>
              <a:off x="10912516" y="6438900"/>
              <a:ext cx="676361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80" dirty="0">
                  <a:solidFill>
                    <a:schemeClr val="accent5"/>
                  </a:solidFill>
                  <a:latin typeface="Consolas"/>
                  <a:ea typeface="Consolas"/>
                  <a:cs typeface="Consolas"/>
                </a:rPr>
                <a:t>13 / 13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theme/theme1.xml><?xml version="1.0" encoding="utf-8"?>
<a:theme xmlns:a="http://schemas.openxmlformats.org/drawingml/2006/main" name="keti2_polish">
  <a:themeElements>
    <a:clrScheme name="keti2_polish">
      <a:dk1>
        <a:srgbClr val="2B2B2B"/>
      </a:dk1>
      <a:lt1>
        <a:srgbClr val="FFFFFF"/>
      </a:lt1>
      <a:dk2>
        <a:srgbClr val="1F497D"/>
      </a:dk2>
      <a:lt2>
        <a:srgbClr val="F2F5F9"/>
      </a:lt2>
      <a:accent1>
        <a:srgbClr val="1F3864"/>
      </a:accent1>
      <a:accent2>
        <a:srgbClr val="E8833A"/>
      </a:accent2>
      <a:accent3>
        <a:srgbClr val="4C78A8"/>
      </a:accent3>
      <a:accent4>
        <a:srgbClr val="1F3864"/>
      </a:accent4>
      <a:accent5>
        <a:srgbClr val="5A6673"/>
      </a:accent5>
      <a:accent6>
        <a:srgbClr val="D6DEE8"/>
      </a:accent6>
      <a:hlink>
        <a:srgbClr val="E8833A"/>
      </a:hlink>
      <a:folHlink>
        <a:srgbClr val="4C78A8"/>
      </a:folHlink>
    </a:clrScheme>
    <a:fontScheme name="keti2_polish">
      <a:maj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keti2_polish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keti2_polish">
  <a:themeElements>
    <a:clrScheme name="keti2_polish">
      <a:dk1>
        <a:srgbClr val="2B2B2B"/>
      </a:dk1>
      <a:lt1>
        <a:srgbClr val="FFFFFF"/>
      </a:lt1>
      <a:dk2>
        <a:srgbClr val="1F497D"/>
      </a:dk2>
      <a:lt2>
        <a:srgbClr val="F2F5F9"/>
      </a:lt2>
      <a:accent1>
        <a:srgbClr val="1F3864"/>
      </a:accent1>
      <a:accent2>
        <a:srgbClr val="E8833A"/>
      </a:accent2>
      <a:accent3>
        <a:srgbClr val="4C78A8"/>
      </a:accent3>
      <a:accent4>
        <a:srgbClr val="1F3864"/>
      </a:accent4>
      <a:accent5>
        <a:srgbClr val="5A6673"/>
      </a:accent5>
      <a:accent6>
        <a:srgbClr val="D6DEE8"/>
      </a:accent6>
      <a:hlink>
        <a:srgbClr val="E8833A"/>
      </a:hlink>
      <a:folHlink>
        <a:srgbClr val="4C78A8"/>
      </a:folHlink>
    </a:clrScheme>
    <a:fontScheme name="keti2_polish">
      <a:maj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keti2_polish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2690</Words>
  <Application>Microsoft Macintosh PowerPoint</Application>
  <PresentationFormat>宽屏</PresentationFormat>
  <Paragraphs>316</Paragraphs>
  <Slides>13</Slides>
  <Notes>13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13</vt:i4>
      </vt:variant>
    </vt:vector>
  </HeadingPairs>
  <TitlesOfParts>
    <vt:vector size="17" baseType="lpstr">
      <vt:lpstr>Microsoft YaHei</vt:lpstr>
      <vt:lpstr>Arial</vt:lpstr>
      <vt:lpstr>Consolas</vt:lpstr>
      <vt:lpstr>keti2_polish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cp:lastModifiedBy>Enia Four</cp:lastModifiedBy>
  <cp:revision>3</cp:revision>
  <dcterms:created xsi:type="dcterms:W3CDTF">2026-10-27T10:05:31Z</dcterms:created>
  <dcterms:modified xsi:type="dcterms:W3CDTF">2026-10-27T16:23:28Z</dcterms:modified>
  <cp:category/>
  <cp:contentStatus/>
  <dc:language>zh-CN</dc:language>
</cp:coreProperties>
</file>